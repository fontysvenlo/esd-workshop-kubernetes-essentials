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342" r:id="rId5"/>
    <p:sldId id="359" r:id="rId6"/>
    <p:sldId id="373" r:id="rId7"/>
    <p:sldId id="374" r:id="rId8"/>
    <p:sldId id="375" r:id="rId9"/>
    <p:sldId id="365" r:id="rId10"/>
    <p:sldId id="377" r:id="rId11"/>
    <p:sldId id="378" r:id="rId12"/>
    <p:sldId id="379" r:id="rId13"/>
    <p:sldId id="380" r:id="rId14"/>
    <p:sldId id="381" r:id="rId15"/>
    <p:sldId id="382" r:id="rId16"/>
    <p:sldId id="383" r:id="rId17"/>
    <p:sldId id="384" r:id="rId18"/>
    <p:sldId id="385" r:id="rId19"/>
    <p:sldId id="3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FBFE"/>
    <a:srgbClr val="000000"/>
    <a:srgbClr val="FFFFFF"/>
    <a:srgbClr val="05202E"/>
    <a:srgbClr val="051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0A1B5D5-9B99-4C35-A422-299274C8766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9007" autoAdjust="0"/>
  </p:normalViewPr>
  <p:slideViewPr>
    <p:cSldViewPr snapToGrid="0" snapToObjects="1" showGuides="1">
      <p:cViewPr varScale="1">
        <p:scale>
          <a:sx n="76" d="100"/>
          <a:sy n="76" d="100"/>
        </p:scale>
        <p:origin x="1950" y="9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3C9E49-BC37-431E-B11E-816252B629AC}"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en-US"/>
        </a:p>
      </dgm:t>
    </dgm:pt>
    <dgm:pt modelId="{9C0F711E-37A3-4DE4-85A9-9A1493EEAE10}">
      <dgm:prSet/>
      <dgm:spPr/>
      <dgm:t>
        <a:bodyPr/>
        <a:lstStyle/>
        <a:p>
          <a:r>
            <a:rPr lang="en-US" dirty="0"/>
            <a:t>Pods: Smallest deployable unit</a:t>
          </a:r>
        </a:p>
      </dgm:t>
    </dgm:pt>
    <dgm:pt modelId="{8C1694CE-55DD-493B-B96E-FCCBB3E3E46A}" type="parTrans" cxnId="{96B76251-83B3-425E-82E3-A34018E75166}">
      <dgm:prSet/>
      <dgm:spPr/>
      <dgm:t>
        <a:bodyPr/>
        <a:lstStyle/>
        <a:p>
          <a:endParaRPr lang="en-US"/>
        </a:p>
      </dgm:t>
    </dgm:pt>
    <dgm:pt modelId="{508922A1-50A8-4F14-A1A1-8F28794C2681}" type="sibTrans" cxnId="{96B76251-83B3-425E-82E3-A34018E75166}">
      <dgm:prSet/>
      <dgm:spPr/>
      <dgm:t>
        <a:bodyPr/>
        <a:lstStyle/>
        <a:p>
          <a:endParaRPr lang="en-US"/>
        </a:p>
      </dgm:t>
    </dgm:pt>
    <dgm:pt modelId="{EE55809E-1436-4416-B219-C313959B3161}">
      <dgm:prSet/>
      <dgm:spPr/>
      <dgm:t>
        <a:bodyPr/>
        <a:lstStyle/>
        <a:p>
          <a:endParaRPr lang="en-US" dirty="0"/>
        </a:p>
      </dgm:t>
    </dgm:pt>
    <dgm:pt modelId="{805A8ABC-AE1C-40E3-905A-A28E5FBDAB73}" type="parTrans" cxnId="{1D462106-A5ED-454C-8C70-CE70A471A33B}">
      <dgm:prSet/>
      <dgm:spPr/>
      <dgm:t>
        <a:bodyPr/>
        <a:lstStyle/>
        <a:p>
          <a:endParaRPr lang="en-US"/>
        </a:p>
      </dgm:t>
    </dgm:pt>
    <dgm:pt modelId="{A4A11723-74DE-400C-B442-23E70DC0A576}" type="sibTrans" cxnId="{1D462106-A5ED-454C-8C70-CE70A471A33B}">
      <dgm:prSet/>
      <dgm:spPr/>
      <dgm:t>
        <a:bodyPr/>
        <a:lstStyle/>
        <a:p>
          <a:endParaRPr lang="en-US"/>
        </a:p>
      </dgm:t>
    </dgm:pt>
    <dgm:pt modelId="{6935E605-5144-4C88-8ABF-38A76973D6C6}">
      <dgm:prSet/>
      <dgm:spPr/>
      <dgm:t>
        <a:bodyPr/>
        <a:lstStyle/>
        <a:p>
          <a:r>
            <a:rPr lang="en-US" dirty="0"/>
            <a:t>Deployments: Manage replicas and updates</a:t>
          </a:r>
        </a:p>
      </dgm:t>
    </dgm:pt>
    <dgm:pt modelId="{FD76121D-D82E-485C-8BF2-17C9B295E959}" type="parTrans" cxnId="{C9EE7683-1D31-43E5-94C2-D94D68C52958}">
      <dgm:prSet/>
      <dgm:spPr/>
      <dgm:t>
        <a:bodyPr/>
        <a:lstStyle/>
        <a:p>
          <a:endParaRPr lang="en-US"/>
        </a:p>
      </dgm:t>
    </dgm:pt>
    <dgm:pt modelId="{3C4897AD-128D-430E-ADFE-2013992B96EF}" type="sibTrans" cxnId="{C9EE7683-1D31-43E5-94C2-D94D68C52958}">
      <dgm:prSet/>
      <dgm:spPr/>
      <dgm:t>
        <a:bodyPr/>
        <a:lstStyle/>
        <a:p>
          <a:endParaRPr lang="en-US"/>
        </a:p>
      </dgm:t>
    </dgm:pt>
    <dgm:pt modelId="{478CD3C7-F820-494F-AC99-5F4CD2602D4B}">
      <dgm:prSet/>
      <dgm:spPr/>
      <dgm:t>
        <a:bodyPr/>
        <a:lstStyle/>
        <a:p>
          <a:endParaRPr lang="en-US" dirty="0"/>
        </a:p>
      </dgm:t>
    </dgm:pt>
    <dgm:pt modelId="{5B2F402F-0AE5-44DF-9353-46504BDB7AD5}" type="parTrans" cxnId="{DF1C7F91-2019-4494-BE0E-075E18B21AA1}">
      <dgm:prSet/>
      <dgm:spPr/>
      <dgm:t>
        <a:bodyPr/>
        <a:lstStyle/>
        <a:p>
          <a:endParaRPr lang="en-US"/>
        </a:p>
      </dgm:t>
    </dgm:pt>
    <dgm:pt modelId="{7E0EDA72-0FDB-4B7F-A846-EAF9DECEB22B}" type="sibTrans" cxnId="{DF1C7F91-2019-4494-BE0E-075E18B21AA1}">
      <dgm:prSet/>
      <dgm:spPr/>
      <dgm:t>
        <a:bodyPr/>
        <a:lstStyle/>
        <a:p>
          <a:endParaRPr lang="en-US"/>
        </a:p>
      </dgm:t>
    </dgm:pt>
    <dgm:pt modelId="{567EED3E-4F53-44BC-B503-A9ED381AB879}">
      <dgm:prSet/>
      <dgm:spPr/>
      <dgm:t>
        <a:bodyPr/>
        <a:lstStyle/>
        <a:p>
          <a:r>
            <a:rPr lang="en-US" dirty="0" err="1"/>
            <a:t>ReplicaSets</a:t>
          </a:r>
          <a:r>
            <a:rPr lang="en-US" dirty="0"/>
            <a:t>: Maintain desired pod count </a:t>
          </a:r>
        </a:p>
      </dgm:t>
    </dgm:pt>
    <dgm:pt modelId="{EECA3B1F-1F37-491B-9966-36865E77D868}" type="parTrans" cxnId="{3468BA5F-0E74-44C4-83A3-A7CA593C4166}">
      <dgm:prSet/>
      <dgm:spPr/>
      <dgm:t>
        <a:bodyPr/>
        <a:lstStyle/>
        <a:p>
          <a:endParaRPr lang="en-US"/>
        </a:p>
      </dgm:t>
    </dgm:pt>
    <dgm:pt modelId="{5C30454C-46E6-40EF-A978-7F02DE849D50}" type="sibTrans" cxnId="{3468BA5F-0E74-44C4-83A3-A7CA593C4166}">
      <dgm:prSet/>
      <dgm:spPr/>
      <dgm:t>
        <a:bodyPr/>
        <a:lstStyle/>
        <a:p>
          <a:endParaRPr lang="en-US"/>
        </a:p>
      </dgm:t>
    </dgm:pt>
    <dgm:pt modelId="{F91F59E1-00FC-4469-8E47-81291E498206}">
      <dgm:prSet/>
      <dgm:spPr/>
      <dgm:t>
        <a:bodyPr/>
        <a:lstStyle/>
        <a:p>
          <a:endParaRPr lang="en-US" dirty="0"/>
        </a:p>
      </dgm:t>
    </dgm:pt>
    <dgm:pt modelId="{F699B9A3-8798-4E63-9CC6-F687C7ECF1F8}" type="parTrans" cxnId="{8FAAFD40-F6AA-4FBC-819F-628A7AB6C3C1}">
      <dgm:prSet/>
      <dgm:spPr/>
      <dgm:t>
        <a:bodyPr/>
        <a:lstStyle/>
        <a:p>
          <a:endParaRPr lang="en-US"/>
        </a:p>
      </dgm:t>
    </dgm:pt>
    <dgm:pt modelId="{C9D5ECDF-9EFD-4C88-876E-738BE55B18A7}" type="sibTrans" cxnId="{8FAAFD40-F6AA-4FBC-819F-628A7AB6C3C1}">
      <dgm:prSet/>
      <dgm:spPr/>
      <dgm:t>
        <a:bodyPr/>
        <a:lstStyle/>
        <a:p>
          <a:endParaRPr lang="en-US"/>
        </a:p>
      </dgm:t>
    </dgm:pt>
    <dgm:pt modelId="{40327E34-5B8E-4861-B94C-DE9A16B0A81F}">
      <dgm:prSet/>
      <dgm:spPr/>
      <dgm:t>
        <a:bodyPr/>
        <a:lstStyle/>
        <a:p>
          <a:r>
            <a:rPr lang="en-US" dirty="0"/>
            <a:t>Services &amp; Ingress: Networking &amp; access</a:t>
          </a:r>
        </a:p>
      </dgm:t>
    </dgm:pt>
    <dgm:pt modelId="{4A10A67F-861A-419D-B52E-A92F984B71C7}" type="parTrans" cxnId="{763BC8A3-E564-49D4-B7B3-4FB6B07A189A}">
      <dgm:prSet/>
      <dgm:spPr/>
      <dgm:t>
        <a:bodyPr/>
        <a:lstStyle/>
        <a:p>
          <a:endParaRPr lang="en-US"/>
        </a:p>
      </dgm:t>
    </dgm:pt>
    <dgm:pt modelId="{07622825-B609-48CF-ACBC-99BE53FE648F}" type="sibTrans" cxnId="{763BC8A3-E564-49D4-B7B3-4FB6B07A189A}">
      <dgm:prSet/>
      <dgm:spPr/>
      <dgm:t>
        <a:bodyPr/>
        <a:lstStyle/>
        <a:p>
          <a:endParaRPr lang="en-US"/>
        </a:p>
      </dgm:t>
    </dgm:pt>
    <dgm:pt modelId="{70241BB9-8951-4C6A-B2FC-D97E88D89137}">
      <dgm:prSet/>
      <dgm:spPr/>
      <dgm:t>
        <a:bodyPr/>
        <a:lstStyle/>
        <a:p>
          <a:endParaRPr lang="en-US" dirty="0"/>
        </a:p>
      </dgm:t>
    </dgm:pt>
    <dgm:pt modelId="{839AF62C-C28A-4515-8B5A-DF69018A7714}" type="parTrans" cxnId="{466AEA6C-0183-41A0-85CF-137066049E6D}">
      <dgm:prSet/>
      <dgm:spPr/>
      <dgm:t>
        <a:bodyPr/>
        <a:lstStyle/>
        <a:p>
          <a:endParaRPr lang="en-US"/>
        </a:p>
      </dgm:t>
    </dgm:pt>
    <dgm:pt modelId="{70FACA5B-8DDC-4746-9979-E4D93D7082D0}" type="sibTrans" cxnId="{466AEA6C-0183-41A0-85CF-137066049E6D}">
      <dgm:prSet/>
      <dgm:spPr/>
      <dgm:t>
        <a:bodyPr/>
        <a:lstStyle/>
        <a:p>
          <a:endParaRPr lang="en-US"/>
        </a:p>
      </dgm:t>
    </dgm:pt>
    <dgm:pt modelId="{46F282E6-1002-4F44-AB03-99F66078FF72}">
      <dgm:prSet/>
      <dgm:spPr/>
      <dgm:t>
        <a:bodyPr/>
        <a:lstStyle/>
        <a:p>
          <a:r>
            <a:rPr lang="en-US" dirty="0" err="1"/>
            <a:t>ConfigMaps</a:t>
          </a:r>
          <a:r>
            <a:rPr lang="en-US" dirty="0"/>
            <a:t> &amp; Secrets: Configuration and sensitive data</a:t>
          </a:r>
        </a:p>
      </dgm:t>
    </dgm:pt>
    <dgm:pt modelId="{FE54025C-12BD-4923-8631-83E2A1391BD5}" type="parTrans" cxnId="{18973F29-207D-4E02-9196-16052D4572FA}">
      <dgm:prSet/>
      <dgm:spPr/>
      <dgm:t>
        <a:bodyPr/>
        <a:lstStyle/>
        <a:p>
          <a:endParaRPr lang="en-US"/>
        </a:p>
      </dgm:t>
    </dgm:pt>
    <dgm:pt modelId="{64A623E3-C472-40B1-BA5D-8C5212EA620E}" type="sibTrans" cxnId="{18973F29-207D-4E02-9196-16052D4572FA}">
      <dgm:prSet/>
      <dgm:spPr/>
      <dgm:t>
        <a:bodyPr/>
        <a:lstStyle/>
        <a:p>
          <a:endParaRPr lang="en-US"/>
        </a:p>
      </dgm:t>
    </dgm:pt>
    <dgm:pt modelId="{7B814178-A230-49C3-853A-EEF22E283125}">
      <dgm:prSet/>
      <dgm:spPr/>
      <dgm:t>
        <a:bodyPr/>
        <a:lstStyle/>
        <a:p>
          <a:endParaRPr lang="en-US" dirty="0"/>
        </a:p>
      </dgm:t>
    </dgm:pt>
    <dgm:pt modelId="{525A1B62-D582-4166-8F00-53265ECE9FDF}" type="parTrans" cxnId="{2DAFB6F5-F818-42CC-A86C-390172EE8764}">
      <dgm:prSet/>
      <dgm:spPr/>
      <dgm:t>
        <a:bodyPr/>
        <a:lstStyle/>
        <a:p>
          <a:endParaRPr lang="en-US"/>
        </a:p>
      </dgm:t>
    </dgm:pt>
    <dgm:pt modelId="{887C3E25-B2E3-42FE-A2CB-C7B09F3D605F}" type="sibTrans" cxnId="{2DAFB6F5-F818-42CC-A86C-390172EE8764}">
      <dgm:prSet/>
      <dgm:spPr/>
      <dgm:t>
        <a:bodyPr/>
        <a:lstStyle/>
        <a:p>
          <a:endParaRPr lang="en-US"/>
        </a:p>
      </dgm:t>
    </dgm:pt>
    <dgm:pt modelId="{9CA01B4D-290A-4470-956B-DCAA29E529F9}">
      <dgm:prSet/>
      <dgm:spPr/>
      <dgm:t>
        <a:bodyPr/>
        <a:lstStyle/>
        <a:p>
          <a:r>
            <a:rPr lang="en-US" dirty="0" err="1"/>
            <a:t>PersistentVolumes</a:t>
          </a:r>
          <a:r>
            <a:rPr lang="en-US" dirty="0"/>
            <a:t> &amp; Claims: Persistent storage</a:t>
          </a:r>
        </a:p>
      </dgm:t>
    </dgm:pt>
    <dgm:pt modelId="{2A4FC775-DC4A-47FB-8EAB-A3C6925284B1}" type="parTrans" cxnId="{4059EFD8-CDED-4B59-AE53-AB8014837A05}">
      <dgm:prSet/>
      <dgm:spPr/>
      <dgm:t>
        <a:bodyPr/>
        <a:lstStyle/>
        <a:p>
          <a:endParaRPr lang="en-US"/>
        </a:p>
      </dgm:t>
    </dgm:pt>
    <dgm:pt modelId="{6B9E4160-0B89-406B-B105-7EF28003F605}" type="sibTrans" cxnId="{4059EFD8-CDED-4B59-AE53-AB8014837A05}">
      <dgm:prSet/>
      <dgm:spPr/>
      <dgm:t>
        <a:bodyPr/>
        <a:lstStyle/>
        <a:p>
          <a:endParaRPr lang="en-US"/>
        </a:p>
      </dgm:t>
    </dgm:pt>
    <dgm:pt modelId="{B73DFD77-E9AB-424F-919F-B3746ECEDDAA}">
      <dgm:prSet/>
      <dgm:spPr/>
      <dgm:t>
        <a:bodyPr/>
        <a:lstStyle/>
        <a:p>
          <a:endParaRPr lang="en-US" dirty="0"/>
        </a:p>
      </dgm:t>
    </dgm:pt>
    <dgm:pt modelId="{10253826-FA0D-4489-91FF-A52999C26B0D}" type="parTrans" cxnId="{940FB884-459A-45AC-9563-FA4942EAC9F8}">
      <dgm:prSet/>
      <dgm:spPr/>
      <dgm:t>
        <a:bodyPr/>
        <a:lstStyle/>
        <a:p>
          <a:endParaRPr lang="en-US"/>
        </a:p>
      </dgm:t>
    </dgm:pt>
    <dgm:pt modelId="{3C74506D-9D60-4607-AC1B-FF0962C18C8A}" type="sibTrans" cxnId="{940FB884-459A-45AC-9563-FA4942EAC9F8}">
      <dgm:prSet/>
      <dgm:spPr/>
      <dgm:t>
        <a:bodyPr/>
        <a:lstStyle/>
        <a:p>
          <a:endParaRPr lang="en-US"/>
        </a:p>
      </dgm:t>
    </dgm:pt>
    <dgm:pt modelId="{EFBE6527-E991-4FA1-A069-03799C04460C}" type="pres">
      <dgm:prSet presAssocID="{CF3C9E49-BC37-431E-B11E-816252B629AC}" presName="linear" presStyleCnt="0">
        <dgm:presLayoutVars>
          <dgm:animLvl val="lvl"/>
          <dgm:resizeHandles val="exact"/>
        </dgm:presLayoutVars>
      </dgm:prSet>
      <dgm:spPr/>
    </dgm:pt>
    <dgm:pt modelId="{9F166ED7-A03C-4F14-9118-A06103B1CB23}" type="pres">
      <dgm:prSet presAssocID="{9C0F711E-37A3-4DE4-85A9-9A1493EEAE10}" presName="parentText" presStyleLbl="node1" presStyleIdx="0" presStyleCnt="6">
        <dgm:presLayoutVars>
          <dgm:chMax val="0"/>
          <dgm:bulletEnabled val="1"/>
        </dgm:presLayoutVars>
      </dgm:prSet>
      <dgm:spPr/>
    </dgm:pt>
    <dgm:pt modelId="{9DBEF8B5-F043-43ED-94CD-AD06AAF0FFD3}" type="pres">
      <dgm:prSet presAssocID="{9C0F711E-37A3-4DE4-85A9-9A1493EEAE10}" presName="childText" presStyleLbl="revTx" presStyleIdx="0" presStyleCnt="6">
        <dgm:presLayoutVars>
          <dgm:bulletEnabled val="1"/>
        </dgm:presLayoutVars>
      </dgm:prSet>
      <dgm:spPr/>
    </dgm:pt>
    <dgm:pt modelId="{D7ACEF95-5583-4D6B-82B7-679682269DCC}" type="pres">
      <dgm:prSet presAssocID="{6935E605-5144-4C88-8ABF-38A76973D6C6}" presName="parentText" presStyleLbl="node1" presStyleIdx="1" presStyleCnt="6">
        <dgm:presLayoutVars>
          <dgm:chMax val="0"/>
          <dgm:bulletEnabled val="1"/>
        </dgm:presLayoutVars>
      </dgm:prSet>
      <dgm:spPr/>
    </dgm:pt>
    <dgm:pt modelId="{21ECC71A-401C-4D96-8E60-F425B4CC7AD9}" type="pres">
      <dgm:prSet presAssocID="{6935E605-5144-4C88-8ABF-38A76973D6C6}" presName="childText" presStyleLbl="revTx" presStyleIdx="1" presStyleCnt="6">
        <dgm:presLayoutVars>
          <dgm:bulletEnabled val="1"/>
        </dgm:presLayoutVars>
      </dgm:prSet>
      <dgm:spPr/>
    </dgm:pt>
    <dgm:pt modelId="{05BC7DB3-6654-47E8-9A12-54A08F067A68}" type="pres">
      <dgm:prSet presAssocID="{567EED3E-4F53-44BC-B503-A9ED381AB879}" presName="parentText" presStyleLbl="node1" presStyleIdx="2" presStyleCnt="6">
        <dgm:presLayoutVars>
          <dgm:chMax val="0"/>
          <dgm:bulletEnabled val="1"/>
        </dgm:presLayoutVars>
      </dgm:prSet>
      <dgm:spPr/>
    </dgm:pt>
    <dgm:pt modelId="{A213BD7A-97F2-4339-B964-C6906069DDBF}" type="pres">
      <dgm:prSet presAssocID="{567EED3E-4F53-44BC-B503-A9ED381AB879}" presName="childText" presStyleLbl="revTx" presStyleIdx="2" presStyleCnt="6">
        <dgm:presLayoutVars>
          <dgm:bulletEnabled val="1"/>
        </dgm:presLayoutVars>
      </dgm:prSet>
      <dgm:spPr/>
    </dgm:pt>
    <dgm:pt modelId="{91535095-AD08-4133-9A3A-132D62AAFB00}" type="pres">
      <dgm:prSet presAssocID="{40327E34-5B8E-4861-B94C-DE9A16B0A81F}" presName="parentText" presStyleLbl="node1" presStyleIdx="3" presStyleCnt="6">
        <dgm:presLayoutVars>
          <dgm:chMax val="0"/>
          <dgm:bulletEnabled val="1"/>
        </dgm:presLayoutVars>
      </dgm:prSet>
      <dgm:spPr/>
    </dgm:pt>
    <dgm:pt modelId="{BF3FFB67-5824-4028-A1EB-DDF4874AA555}" type="pres">
      <dgm:prSet presAssocID="{40327E34-5B8E-4861-B94C-DE9A16B0A81F}" presName="childText" presStyleLbl="revTx" presStyleIdx="3" presStyleCnt="6">
        <dgm:presLayoutVars>
          <dgm:bulletEnabled val="1"/>
        </dgm:presLayoutVars>
      </dgm:prSet>
      <dgm:spPr/>
    </dgm:pt>
    <dgm:pt modelId="{1655A84C-03F5-49B2-B62C-ABC502D70417}" type="pres">
      <dgm:prSet presAssocID="{46F282E6-1002-4F44-AB03-99F66078FF72}" presName="parentText" presStyleLbl="node1" presStyleIdx="4" presStyleCnt="6">
        <dgm:presLayoutVars>
          <dgm:chMax val="0"/>
          <dgm:bulletEnabled val="1"/>
        </dgm:presLayoutVars>
      </dgm:prSet>
      <dgm:spPr/>
    </dgm:pt>
    <dgm:pt modelId="{312FD96D-5706-44A3-A202-644CF1F95AE7}" type="pres">
      <dgm:prSet presAssocID="{46F282E6-1002-4F44-AB03-99F66078FF72}" presName="childText" presStyleLbl="revTx" presStyleIdx="4" presStyleCnt="6">
        <dgm:presLayoutVars>
          <dgm:bulletEnabled val="1"/>
        </dgm:presLayoutVars>
      </dgm:prSet>
      <dgm:spPr/>
    </dgm:pt>
    <dgm:pt modelId="{A9770D53-3C70-4A42-BA63-F14CBDD8D7DD}" type="pres">
      <dgm:prSet presAssocID="{9CA01B4D-290A-4470-956B-DCAA29E529F9}" presName="parentText" presStyleLbl="node1" presStyleIdx="5" presStyleCnt="6">
        <dgm:presLayoutVars>
          <dgm:chMax val="0"/>
          <dgm:bulletEnabled val="1"/>
        </dgm:presLayoutVars>
      </dgm:prSet>
      <dgm:spPr/>
    </dgm:pt>
    <dgm:pt modelId="{2C3BD924-E932-4F0F-B689-AB2F40E64CBC}" type="pres">
      <dgm:prSet presAssocID="{9CA01B4D-290A-4470-956B-DCAA29E529F9}" presName="childText" presStyleLbl="revTx" presStyleIdx="5" presStyleCnt="6">
        <dgm:presLayoutVars>
          <dgm:bulletEnabled val="1"/>
        </dgm:presLayoutVars>
      </dgm:prSet>
      <dgm:spPr/>
    </dgm:pt>
  </dgm:ptLst>
  <dgm:cxnLst>
    <dgm:cxn modelId="{1D462106-A5ED-454C-8C70-CE70A471A33B}" srcId="{9C0F711E-37A3-4DE4-85A9-9A1493EEAE10}" destId="{EE55809E-1436-4416-B219-C313959B3161}" srcOrd="0" destOrd="0" parTransId="{805A8ABC-AE1C-40E3-905A-A28E5FBDAB73}" sibTransId="{A4A11723-74DE-400C-B442-23E70DC0A576}"/>
    <dgm:cxn modelId="{D769F80C-EB81-4442-A407-73DF417F8265}" type="presOf" srcId="{40327E34-5B8E-4861-B94C-DE9A16B0A81F}" destId="{91535095-AD08-4133-9A3A-132D62AAFB00}" srcOrd="0" destOrd="0" presId="urn:microsoft.com/office/officeart/2005/8/layout/vList2"/>
    <dgm:cxn modelId="{330AD50D-AF4D-4873-A78C-3AE6AB2FAAD3}" type="presOf" srcId="{9C0F711E-37A3-4DE4-85A9-9A1493EEAE10}" destId="{9F166ED7-A03C-4F14-9118-A06103B1CB23}" srcOrd="0" destOrd="0" presId="urn:microsoft.com/office/officeart/2005/8/layout/vList2"/>
    <dgm:cxn modelId="{DF12F514-FF4E-4F3A-87F9-DEAB8FE69A6F}" type="presOf" srcId="{EE55809E-1436-4416-B219-C313959B3161}" destId="{9DBEF8B5-F043-43ED-94CD-AD06AAF0FFD3}" srcOrd="0" destOrd="0" presId="urn:microsoft.com/office/officeart/2005/8/layout/vList2"/>
    <dgm:cxn modelId="{FD44B625-83E2-435F-91FD-5F07C74708E0}" type="presOf" srcId="{F91F59E1-00FC-4469-8E47-81291E498206}" destId="{A213BD7A-97F2-4339-B964-C6906069DDBF}" srcOrd="0" destOrd="0" presId="urn:microsoft.com/office/officeart/2005/8/layout/vList2"/>
    <dgm:cxn modelId="{FE951127-C8E6-4977-9809-35A8FE5F8ACF}" type="presOf" srcId="{B73DFD77-E9AB-424F-919F-B3746ECEDDAA}" destId="{2C3BD924-E932-4F0F-B689-AB2F40E64CBC}" srcOrd="0" destOrd="0" presId="urn:microsoft.com/office/officeart/2005/8/layout/vList2"/>
    <dgm:cxn modelId="{18973F29-207D-4E02-9196-16052D4572FA}" srcId="{CF3C9E49-BC37-431E-B11E-816252B629AC}" destId="{46F282E6-1002-4F44-AB03-99F66078FF72}" srcOrd="4" destOrd="0" parTransId="{FE54025C-12BD-4923-8631-83E2A1391BD5}" sibTransId="{64A623E3-C472-40B1-BA5D-8C5212EA620E}"/>
    <dgm:cxn modelId="{8FAAFD40-F6AA-4FBC-819F-628A7AB6C3C1}" srcId="{567EED3E-4F53-44BC-B503-A9ED381AB879}" destId="{F91F59E1-00FC-4469-8E47-81291E498206}" srcOrd="0" destOrd="0" parTransId="{F699B9A3-8798-4E63-9CC6-F687C7ECF1F8}" sibTransId="{C9D5ECDF-9EFD-4C88-876E-738BE55B18A7}"/>
    <dgm:cxn modelId="{78E44E5C-4174-4806-A2A9-669E1C5A0EE7}" type="presOf" srcId="{70241BB9-8951-4C6A-B2FC-D97E88D89137}" destId="{BF3FFB67-5824-4028-A1EB-DDF4874AA555}" srcOrd="0" destOrd="0" presId="urn:microsoft.com/office/officeart/2005/8/layout/vList2"/>
    <dgm:cxn modelId="{3468BA5F-0E74-44C4-83A3-A7CA593C4166}" srcId="{CF3C9E49-BC37-431E-B11E-816252B629AC}" destId="{567EED3E-4F53-44BC-B503-A9ED381AB879}" srcOrd="2" destOrd="0" parTransId="{EECA3B1F-1F37-491B-9966-36865E77D868}" sibTransId="{5C30454C-46E6-40EF-A978-7F02DE849D50}"/>
    <dgm:cxn modelId="{466AEA6C-0183-41A0-85CF-137066049E6D}" srcId="{40327E34-5B8E-4861-B94C-DE9A16B0A81F}" destId="{70241BB9-8951-4C6A-B2FC-D97E88D89137}" srcOrd="0" destOrd="0" parTransId="{839AF62C-C28A-4515-8B5A-DF69018A7714}" sibTransId="{70FACA5B-8DDC-4746-9979-E4D93D7082D0}"/>
    <dgm:cxn modelId="{B0E40D4D-6830-4A47-9F7F-D01657E48B7D}" type="presOf" srcId="{7B814178-A230-49C3-853A-EEF22E283125}" destId="{312FD96D-5706-44A3-A202-644CF1F95AE7}" srcOrd="0" destOrd="0" presId="urn:microsoft.com/office/officeart/2005/8/layout/vList2"/>
    <dgm:cxn modelId="{798C3C4F-4FC0-4628-9B51-6603161EB9EE}" type="presOf" srcId="{6935E605-5144-4C88-8ABF-38A76973D6C6}" destId="{D7ACEF95-5583-4D6B-82B7-679682269DCC}" srcOrd="0" destOrd="0" presId="urn:microsoft.com/office/officeart/2005/8/layout/vList2"/>
    <dgm:cxn modelId="{96B76251-83B3-425E-82E3-A34018E75166}" srcId="{CF3C9E49-BC37-431E-B11E-816252B629AC}" destId="{9C0F711E-37A3-4DE4-85A9-9A1493EEAE10}" srcOrd="0" destOrd="0" parTransId="{8C1694CE-55DD-493B-B96E-FCCBB3E3E46A}" sibTransId="{508922A1-50A8-4F14-A1A1-8F28794C2681}"/>
    <dgm:cxn modelId="{3936AB5A-A6AA-4204-93ED-FE8A61D261B8}" type="presOf" srcId="{478CD3C7-F820-494F-AC99-5F4CD2602D4B}" destId="{21ECC71A-401C-4D96-8E60-F425B4CC7AD9}" srcOrd="0" destOrd="0" presId="urn:microsoft.com/office/officeart/2005/8/layout/vList2"/>
    <dgm:cxn modelId="{C9EE7683-1D31-43E5-94C2-D94D68C52958}" srcId="{CF3C9E49-BC37-431E-B11E-816252B629AC}" destId="{6935E605-5144-4C88-8ABF-38A76973D6C6}" srcOrd="1" destOrd="0" parTransId="{FD76121D-D82E-485C-8BF2-17C9B295E959}" sibTransId="{3C4897AD-128D-430E-ADFE-2013992B96EF}"/>
    <dgm:cxn modelId="{940FB884-459A-45AC-9563-FA4942EAC9F8}" srcId="{9CA01B4D-290A-4470-956B-DCAA29E529F9}" destId="{B73DFD77-E9AB-424F-919F-B3746ECEDDAA}" srcOrd="0" destOrd="0" parTransId="{10253826-FA0D-4489-91FF-A52999C26B0D}" sibTransId="{3C74506D-9D60-4607-AC1B-FF0962C18C8A}"/>
    <dgm:cxn modelId="{6CE0048C-D92C-48F9-9DC9-DE41213DE28E}" type="presOf" srcId="{CF3C9E49-BC37-431E-B11E-816252B629AC}" destId="{EFBE6527-E991-4FA1-A069-03799C04460C}" srcOrd="0" destOrd="0" presId="urn:microsoft.com/office/officeart/2005/8/layout/vList2"/>
    <dgm:cxn modelId="{DF1C7F91-2019-4494-BE0E-075E18B21AA1}" srcId="{6935E605-5144-4C88-8ABF-38A76973D6C6}" destId="{478CD3C7-F820-494F-AC99-5F4CD2602D4B}" srcOrd="0" destOrd="0" parTransId="{5B2F402F-0AE5-44DF-9353-46504BDB7AD5}" sibTransId="{7E0EDA72-0FDB-4B7F-A846-EAF9DECEB22B}"/>
    <dgm:cxn modelId="{6624C691-6C0E-4733-821B-5458AB868474}" type="presOf" srcId="{9CA01B4D-290A-4470-956B-DCAA29E529F9}" destId="{A9770D53-3C70-4A42-BA63-F14CBDD8D7DD}" srcOrd="0" destOrd="0" presId="urn:microsoft.com/office/officeart/2005/8/layout/vList2"/>
    <dgm:cxn modelId="{E0A9659C-54C4-4B19-8478-DF7A064D4067}" type="presOf" srcId="{567EED3E-4F53-44BC-B503-A9ED381AB879}" destId="{05BC7DB3-6654-47E8-9A12-54A08F067A68}" srcOrd="0" destOrd="0" presId="urn:microsoft.com/office/officeart/2005/8/layout/vList2"/>
    <dgm:cxn modelId="{C084CC9C-7CE3-458E-B1F9-C183BE9F6763}" type="presOf" srcId="{46F282E6-1002-4F44-AB03-99F66078FF72}" destId="{1655A84C-03F5-49B2-B62C-ABC502D70417}" srcOrd="0" destOrd="0" presId="urn:microsoft.com/office/officeart/2005/8/layout/vList2"/>
    <dgm:cxn modelId="{763BC8A3-E564-49D4-B7B3-4FB6B07A189A}" srcId="{CF3C9E49-BC37-431E-B11E-816252B629AC}" destId="{40327E34-5B8E-4861-B94C-DE9A16B0A81F}" srcOrd="3" destOrd="0" parTransId="{4A10A67F-861A-419D-B52E-A92F984B71C7}" sibTransId="{07622825-B609-48CF-ACBC-99BE53FE648F}"/>
    <dgm:cxn modelId="{4059EFD8-CDED-4B59-AE53-AB8014837A05}" srcId="{CF3C9E49-BC37-431E-B11E-816252B629AC}" destId="{9CA01B4D-290A-4470-956B-DCAA29E529F9}" srcOrd="5" destOrd="0" parTransId="{2A4FC775-DC4A-47FB-8EAB-A3C6925284B1}" sibTransId="{6B9E4160-0B89-406B-B105-7EF28003F605}"/>
    <dgm:cxn modelId="{2DAFB6F5-F818-42CC-A86C-390172EE8764}" srcId="{46F282E6-1002-4F44-AB03-99F66078FF72}" destId="{7B814178-A230-49C3-853A-EEF22E283125}" srcOrd="0" destOrd="0" parTransId="{525A1B62-D582-4166-8F00-53265ECE9FDF}" sibTransId="{887C3E25-B2E3-42FE-A2CB-C7B09F3D605F}"/>
    <dgm:cxn modelId="{09C99C39-E44D-4F9C-82C1-D5EA661B56BD}" type="presParOf" srcId="{EFBE6527-E991-4FA1-A069-03799C04460C}" destId="{9F166ED7-A03C-4F14-9118-A06103B1CB23}" srcOrd="0" destOrd="0" presId="urn:microsoft.com/office/officeart/2005/8/layout/vList2"/>
    <dgm:cxn modelId="{D7BBEE5A-6D03-45C0-8655-D6E05B92CF12}" type="presParOf" srcId="{EFBE6527-E991-4FA1-A069-03799C04460C}" destId="{9DBEF8B5-F043-43ED-94CD-AD06AAF0FFD3}" srcOrd="1" destOrd="0" presId="urn:microsoft.com/office/officeart/2005/8/layout/vList2"/>
    <dgm:cxn modelId="{3653F193-6861-4EB8-8381-1AE0BED488B2}" type="presParOf" srcId="{EFBE6527-E991-4FA1-A069-03799C04460C}" destId="{D7ACEF95-5583-4D6B-82B7-679682269DCC}" srcOrd="2" destOrd="0" presId="urn:microsoft.com/office/officeart/2005/8/layout/vList2"/>
    <dgm:cxn modelId="{FBF969D2-A703-402C-A3BA-C25905D0CF59}" type="presParOf" srcId="{EFBE6527-E991-4FA1-A069-03799C04460C}" destId="{21ECC71A-401C-4D96-8E60-F425B4CC7AD9}" srcOrd="3" destOrd="0" presId="urn:microsoft.com/office/officeart/2005/8/layout/vList2"/>
    <dgm:cxn modelId="{E7CC8EF9-F702-45E4-924F-74D44D187F74}" type="presParOf" srcId="{EFBE6527-E991-4FA1-A069-03799C04460C}" destId="{05BC7DB3-6654-47E8-9A12-54A08F067A68}" srcOrd="4" destOrd="0" presId="urn:microsoft.com/office/officeart/2005/8/layout/vList2"/>
    <dgm:cxn modelId="{658BE82B-4C85-4CC7-B0CD-BB2602A92039}" type="presParOf" srcId="{EFBE6527-E991-4FA1-A069-03799C04460C}" destId="{A213BD7A-97F2-4339-B964-C6906069DDBF}" srcOrd="5" destOrd="0" presId="urn:microsoft.com/office/officeart/2005/8/layout/vList2"/>
    <dgm:cxn modelId="{0E734642-EAAF-4512-A0A6-E10485806016}" type="presParOf" srcId="{EFBE6527-E991-4FA1-A069-03799C04460C}" destId="{91535095-AD08-4133-9A3A-132D62AAFB00}" srcOrd="6" destOrd="0" presId="urn:microsoft.com/office/officeart/2005/8/layout/vList2"/>
    <dgm:cxn modelId="{C6FB1DDC-BC84-4474-8C4D-EC2364081555}" type="presParOf" srcId="{EFBE6527-E991-4FA1-A069-03799C04460C}" destId="{BF3FFB67-5824-4028-A1EB-DDF4874AA555}" srcOrd="7" destOrd="0" presId="urn:microsoft.com/office/officeart/2005/8/layout/vList2"/>
    <dgm:cxn modelId="{F3992288-DCC2-408B-A657-5498CE92BE6D}" type="presParOf" srcId="{EFBE6527-E991-4FA1-A069-03799C04460C}" destId="{1655A84C-03F5-49B2-B62C-ABC502D70417}" srcOrd="8" destOrd="0" presId="urn:microsoft.com/office/officeart/2005/8/layout/vList2"/>
    <dgm:cxn modelId="{2C5AE6A1-6515-465F-873D-94780949FC9E}" type="presParOf" srcId="{EFBE6527-E991-4FA1-A069-03799C04460C}" destId="{312FD96D-5706-44A3-A202-644CF1F95AE7}" srcOrd="9" destOrd="0" presId="urn:microsoft.com/office/officeart/2005/8/layout/vList2"/>
    <dgm:cxn modelId="{83D34C99-156F-4B0B-B848-1A09DD7E5083}" type="presParOf" srcId="{EFBE6527-E991-4FA1-A069-03799C04460C}" destId="{A9770D53-3C70-4A42-BA63-F14CBDD8D7DD}" srcOrd="10" destOrd="0" presId="urn:microsoft.com/office/officeart/2005/8/layout/vList2"/>
    <dgm:cxn modelId="{54BC1ECA-2749-411E-9B26-41640FDA4585}" type="presParOf" srcId="{EFBE6527-E991-4FA1-A069-03799C04460C}" destId="{2C3BD924-E932-4F0F-B689-AB2F40E64CBC}" srcOrd="1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166ED7-A03C-4F14-9118-A06103B1CB23}">
      <dsp:nvSpPr>
        <dsp:cNvPr id="0" name=""/>
        <dsp:cNvSpPr/>
      </dsp:nvSpPr>
      <dsp:spPr>
        <a:xfrm>
          <a:off x="0" y="37351"/>
          <a:ext cx="6315069" cy="359774"/>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Pods: Smallest deployable unit</a:t>
          </a:r>
        </a:p>
      </dsp:txBody>
      <dsp:txXfrm>
        <a:off x="17563" y="54914"/>
        <a:ext cx="6279943" cy="324648"/>
      </dsp:txXfrm>
    </dsp:sp>
    <dsp:sp modelId="{9DBEF8B5-F043-43ED-94CD-AD06AAF0FFD3}">
      <dsp:nvSpPr>
        <dsp:cNvPr id="0" name=""/>
        <dsp:cNvSpPr/>
      </dsp:nvSpPr>
      <dsp:spPr>
        <a:xfrm>
          <a:off x="0" y="397126"/>
          <a:ext cx="6315069" cy="24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503" tIns="19050" rIns="106680" bIns="19050" numCol="1" spcCol="1270" anchor="t" anchorCtr="0">
          <a:noAutofit/>
        </a:bodyPr>
        <a:lstStyle/>
        <a:p>
          <a:pPr marL="114300" lvl="1" indent="-114300" algn="l" defTabSz="533400">
            <a:lnSpc>
              <a:spcPct val="90000"/>
            </a:lnSpc>
            <a:spcBef>
              <a:spcPct val="0"/>
            </a:spcBef>
            <a:spcAft>
              <a:spcPct val="20000"/>
            </a:spcAft>
            <a:buChar char="•"/>
          </a:pPr>
          <a:endParaRPr lang="en-US" sz="1200" kern="1200" dirty="0"/>
        </a:p>
      </dsp:txBody>
      <dsp:txXfrm>
        <a:off x="0" y="397126"/>
        <a:ext cx="6315069" cy="248400"/>
      </dsp:txXfrm>
    </dsp:sp>
    <dsp:sp modelId="{D7ACEF95-5583-4D6B-82B7-679682269DCC}">
      <dsp:nvSpPr>
        <dsp:cNvPr id="0" name=""/>
        <dsp:cNvSpPr/>
      </dsp:nvSpPr>
      <dsp:spPr>
        <a:xfrm>
          <a:off x="0" y="645526"/>
          <a:ext cx="6315069" cy="359774"/>
        </a:xfrm>
        <a:prstGeom prst="roundRect">
          <a:avLst/>
        </a:prstGeom>
        <a:solidFill>
          <a:schemeClr val="accent4">
            <a:hueOff val="591216"/>
            <a:satOff val="98"/>
            <a:lumOff val="1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Deployments: Manage replicas and updates</a:t>
          </a:r>
        </a:p>
      </dsp:txBody>
      <dsp:txXfrm>
        <a:off x="17563" y="663089"/>
        <a:ext cx="6279943" cy="324648"/>
      </dsp:txXfrm>
    </dsp:sp>
    <dsp:sp modelId="{21ECC71A-401C-4D96-8E60-F425B4CC7AD9}">
      <dsp:nvSpPr>
        <dsp:cNvPr id="0" name=""/>
        <dsp:cNvSpPr/>
      </dsp:nvSpPr>
      <dsp:spPr>
        <a:xfrm>
          <a:off x="0" y="1005301"/>
          <a:ext cx="6315069" cy="24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503" tIns="19050" rIns="106680" bIns="19050" numCol="1" spcCol="1270" anchor="t" anchorCtr="0">
          <a:noAutofit/>
        </a:bodyPr>
        <a:lstStyle/>
        <a:p>
          <a:pPr marL="114300" lvl="1" indent="-114300" algn="l" defTabSz="533400">
            <a:lnSpc>
              <a:spcPct val="90000"/>
            </a:lnSpc>
            <a:spcBef>
              <a:spcPct val="0"/>
            </a:spcBef>
            <a:spcAft>
              <a:spcPct val="20000"/>
            </a:spcAft>
            <a:buChar char="•"/>
          </a:pPr>
          <a:endParaRPr lang="en-US" sz="1200" kern="1200" dirty="0"/>
        </a:p>
      </dsp:txBody>
      <dsp:txXfrm>
        <a:off x="0" y="1005301"/>
        <a:ext cx="6315069" cy="248400"/>
      </dsp:txXfrm>
    </dsp:sp>
    <dsp:sp modelId="{05BC7DB3-6654-47E8-9A12-54A08F067A68}">
      <dsp:nvSpPr>
        <dsp:cNvPr id="0" name=""/>
        <dsp:cNvSpPr/>
      </dsp:nvSpPr>
      <dsp:spPr>
        <a:xfrm>
          <a:off x="0" y="1253701"/>
          <a:ext cx="6315069" cy="359774"/>
        </a:xfrm>
        <a:prstGeom prst="roundRect">
          <a:avLst/>
        </a:prstGeom>
        <a:solidFill>
          <a:schemeClr val="accent4">
            <a:hueOff val="1182432"/>
            <a:satOff val="196"/>
            <a:lumOff val="321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err="1"/>
            <a:t>ReplicaSets</a:t>
          </a:r>
          <a:r>
            <a:rPr lang="en-US" sz="1500" kern="1200" dirty="0"/>
            <a:t>: Maintain desired pod count </a:t>
          </a:r>
        </a:p>
      </dsp:txBody>
      <dsp:txXfrm>
        <a:off x="17563" y="1271264"/>
        <a:ext cx="6279943" cy="324648"/>
      </dsp:txXfrm>
    </dsp:sp>
    <dsp:sp modelId="{A213BD7A-97F2-4339-B964-C6906069DDBF}">
      <dsp:nvSpPr>
        <dsp:cNvPr id="0" name=""/>
        <dsp:cNvSpPr/>
      </dsp:nvSpPr>
      <dsp:spPr>
        <a:xfrm>
          <a:off x="0" y="1613476"/>
          <a:ext cx="6315069" cy="24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503" tIns="19050" rIns="106680" bIns="19050" numCol="1" spcCol="1270" anchor="t" anchorCtr="0">
          <a:noAutofit/>
        </a:bodyPr>
        <a:lstStyle/>
        <a:p>
          <a:pPr marL="114300" lvl="1" indent="-114300" algn="l" defTabSz="533400">
            <a:lnSpc>
              <a:spcPct val="90000"/>
            </a:lnSpc>
            <a:spcBef>
              <a:spcPct val="0"/>
            </a:spcBef>
            <a:spcAft>
              <a:spcPct val="20000"/>
            </a:spcAft>
            <a:buChar char="•"/>
          </a:pPr>
          <a:endParaRPr lang="en-US" sz="1200" kern="1200" dirty="0"/>
        </a:p>
      </dsp:txBody>
      <dsp:txXfrm>
        <a:off x="0" y="1613476"/>
        <a:ext cx="6315069" cy="248400"/>
      </dsp:txXfrm>
    </dsp:sp>
    <dsp:sp modelId="{91535095-AD08-4133-9A3A-132D62AAFB00}">
      <dsp:nvSpPr>
        <dsp:cNvPr id="0" name=""/>
        <dsp:cNvSpPr/>
      </dsp:nvSpPr>
      <dsp:spPr>
        <a:xfrm>
          <a:off x="0" y="1861876"/>
          <a:ext cx="6315069" cy="359774"/>
        </a:xfrm>
        <a:prstGeom prst="roundRect">
          <a:avLst/>
        </a:prstGeom>
        <a:solidFill>
          <a:schemeClr val="accent4">
            <a:hueOff val="1773648"/>
            <a:satOff val="293"/>
            <a:lumOff val="4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Services &amp; Ingress: Networking &amp; access</a:t>
          </a:r>
        </a:p>
      </dsp:txBody>
      <dsp:txXfrm>
        <a:off x="17563" y="1879439"/>
        <a:ext cx="6279943" cy="324648"/>
      </dsp:txXfrm>
    </dsp:sp>
    <dsp:sp modelId="{BF3FFB67-5824-4028-A1EB-DDF4874AA555}">
      <dsp:nvSpPr>
        <dsp:cNvPr id="0" name=""/>
        <dsp:cNvSpPr/>
      </dsp:nvSpPr>
      <dsp:spPr>
        <a:xfrm>
          <a:off x="0" y="2221651"/>
          <a:ext cx="6315069" cy="24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503" tIns="19050" rIns="106680" bIns="19050" numCol="1" spcCol="1270" anchor="t" anchorCtr="0">
          <a:noAutofit/>
        </a:bodyPr>
        <a:lstStyle/>
        <a:p>
          <a:pPr marL="114300" lvl="1" indent="-114300" algn="l" defTabSz="533400">
            <a:lnSpc>
              <a:spcPct val="90000"/>
            </a:lnSpc>
            <a:spcBef>
              <a:spcPct val="0"/>
            </a:spcBef>
            <a:spcAft>
              <a:spcPct val="20000"/>
            </a:spcAft>
            <a:buChar char="•"/>
          </a:pPr>
          <a:endParaRPr lang="en-US" sz="1200" kern="1200" dirty="0"/>
        </a:p>
      </dsp:txBody>
      <dsp:txXfrm>
        <a:off x="0" y="2221651"/>
        <a:ext cx="6315069" cy="248400"/>
      </dsp:txXfrm>
    </dsp:sp>
    <dsp:sp modelId="{1655A84C-03F5-49B2-B62C-ABC502D70417}">
      <dsp:nvSpPr>
        <dsp:cNvPr id="0" name=""/>
        <dsp:cNvSpPr/>
      </dsp:nvSpPr>
      <dsp:spPr>
        <a:xfrm>
          <a:off x="0" y="2470051"/>
          <a:ext cx="6315069" cy="359774"/>
        </a:xfrm>
        <a:prstGeom prst="roundRect">
          <a:avLst/>
        </a:prstGeom>
        <a:solidFill>
          <a:schemeClr val="accent4">
            <a:hueOff val="2364864"/>
            <a:satOff val="391"/>
            <a:lumOff val="6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err="1"/>
            <a:t>ConfigMaps</a:t>
          </a:r>
          <a:r>
            <a:rPr lang="en-US" sz="1500" kern="1200" dirty="0"/>
            <a:t> &amp; Secrets: Configuration and sensitive data</a:t>
          </a:r>
        </a:p>
      </dsp:txBody>
      <dsp:txXfrm>
        <a:off x="17563" y="2487614"/>
        <a:ext cx="6279943" cy="324648"/>
      </dsp:txXfrm>
    </dsp:sp>
    <dsp:sp modelId="{312FD96D-5706-44A3-A202-644CF1F95AE7}">
      <dsp:nvSpPr>
        <dsp:cNvPr id="0" name=""/>
        <dsp:cNvSpPr/>
      </dsp:nvSpPr>
      <dsp:spPr>
        <a:xfrm>
          <a:off x="0" y="2829826"/>
          <a:ext cx="6315069" cy="24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503" tIns="19050" rIns="106680" bIns="19050" numCol="1" spcCol="1270" anchor="t" anchorCtr="0">
          <a:noAutofit/>
        </a:bodyPr>
        <a:lstStyle/>
        <a:p>
          <a:pPr marL="114300" lvl="1" indent="-114300" algn="l" defTabSz="533400">
            <a:lnSpc>
              <a:spcPct val="90000"/>
            </a:lnSpc>
            <a:spcBef>
              <a:spcPct val="0"/>
            </a:spcBef>
            <a:spcAft>
              <a:spcPct val="20000"/>
            </a:spcAft>
            <a:buChar char="•"/>
          </a:pPr>
          <a:endParaRPr lang="en-US" sz="1200" kern="1200" dirty="0"/>
        </a:p>
      </dsp:txBody>
      <dsp:txXfrm>
        <a:off x="0" y="2829826"/>
        <a:ext cx="6315069" cy="248400"/>
      </dsp:txXfrm>
    </dsp:sp>
    <dsp:sp modelId="{A9770D53-3C70-4A42-BA63-F14CBDD8D7DD}">
      <dsp:nvSpPr>
        <dsp:cNvPr id="0" name=""/>
        <dsp:cNvSpPr/>
      </dsp:nvSpPr>
      <dsp:spPr>
        <a:xfrm>
          <a:off x="0" y="3078226"/>
          <a:ext cx="6315069" cy="359774"/>
        </a:xfrm>
        <a:prstGeom prst="roundRect">
          <a:avLst/>
        </a:prstGeom>
        <a:solidFill>
          <a:schemeClr val="accent4">
            <a:hueOff val="2956080"/>
            <a:satOff val="489"/>
            <a:lumOff val="804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err="1"/>
            <a:t>PersistentVolumes</a:t>
          </a:r>
          <a:r>
            <a:rPr lang="en-US" sz="1500" kern="1200" dirty="0"/>
            <a:t> &amp; Claims: Persistent storage</a:t>
          </a:r>
        </a:p>
      </dsp:txBody>
      <dsp:txXfrm>
        <a:off x="17563" y="3095789"/>
        <a:ext cx="6279943" cy="324648"/>
      </dsp:txXfrm>
    </dsp:sp>
    <dsp:sp modelId="{2C3BD924-E932-4F0F-B689-AB2F40E64CBC}">
      <dsp:nvSpPr>
        <dsp:cNvPr id="0" name=""/>
        <dsp:cNvSpPr/>
      </dsp:nvSpPr>
      <dsp:spPr>
        <a:xfrm>
          <a:off x="0" y="3438001"/>
          <a:ext cx="6315069" cy="24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503" tIns="19050" rIns="106680" bIns="19050" numCol="1" spcCol="1270" anchor="t" anchorCtr="0">
          <a:noAutofit/>
        </a:bodyPr>
        <a:lstStyle/>
        <a:p>
          <a:pPr marL="114300" lvl="1" indent="-114300" algn="l" defTabSz="533400">
            <a:lnSpc>
              <a:spcPct val="90000"/>
            </a:lnSpc>
            <a:spcBef>
              <a:spcPct val="0"/>
            </a:spcBef>
            <a:spcAft>
              <a:spcPct val="20000"/>
            </a:spcAft>
            <a:buChar char="•"/>
          </a:pPr>
          <a:endParaRPr lang="en-US" sz="1200" kern="1200" dirty="0"/>
        </a:p>
      </dsp:txBody>
      <dsp:txXfrm>
        <a:off x="0" y="3438001"/>
        <a:ext cx="6315069" cy="2484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59878-C319-6BF3-52DC-16FA4340A6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82FA7FC-DFAE-8499-5A3E-AD9648D7FC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8BFD57-AB0A-470B-A7AF-56DFE7B5174A}" type="datetimeFigureOut">
              <a:rPr lang="en-US" smtClean="0"/>
              <a:t>11/15/2025</a:t>
            </a:fld>
            <a:endParaRPr lang="en-US" dirty="0"/>
          </a:p>
        </p:txBody>
      </p:sp>
      <p:sp>
        <p:nvSpPr>
          <p:cNvPr id="4" name="Footer Placeholder 3">
            <a:extLst>
              <a:ext uri="{FF2B5EF4-FFF2-40B4-BE49-F238E27FC236}">
                <a16:creationId xmlns:a16="http://schemas.microsoft.com/office/drawing/2014/main" id="{4C9C12BB-9544-9F9A-BEDA-E71686438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D1E77E4-B9A2-A882-9240-3AE65EE217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61A1-75D9-49F7-83EB-F5872642613A}" type="slidenum">
              <a:rPr lang="en-US" smtClean="0"/>
              <a:t>‹#›</a:t>
            </a:fld>
            <a:endParaRPr lang="en-US" dirty="0"/>
          </a:p>
        </p:txBody>
      </p:sp>
    </p:spTree>
    <p:extLst>
      <p:ext uri="{BB962C8B-B14F-4D97-AF65-F5344CB8AC3E}">
        <p14:creationId xmlns:p14="http://schemas.microsoft.com/office/powerpoint/2010/main" val="147732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3339F-6CEA-4641-BE08-40DAFD6FCF25}" type="datetimeFigureOut">
              <a:rPr lang="en-US" smtClean="0"/>
              <a:t>11/15/2025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75CB5-5666-5049-9AE0-38EFD385C21E}" type="slidenum">
              <a:rPr lang="en-US" smtClean="0"/>
              <a:t>‹#›</a:t>
            </a:fld>
            <a:endParaRPr lang="en-US" dirty="0"/>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 </a:t>
            </a:r>
          </a:p>
          <a:p>
            <a:r>
              <a:rPr lang="en-US" dirty="0"/>
              <a:t>Hello everyone, and welcome to our workshop on Kubernetes Essentials.</a:t>
            </a:r>
            <a:br>
              <a:rPr lang="en-US" dirty="0"/>
            </a:br>
            <a:r>
              <a:rPr lang="en-US" dirty="0"/>
              <a:t>Me and Robert are going to walk you through what Kubernetes is, why it exists, and how you can start using it effectively.</a:t>
            </a:r>
            <a:br>
              <a:rPr lang="en-US" dirty="0"/>
            </a:br>
            <a:r>
              <a:rPr lang="en-US" dirty="0"/>
              <a:t>By the end, you’ll understand both the high-level concepts and practical reasons for using Kubernetes in modern application environments.</a:t>
            </a:r>
          </a:p>
        </p:txBody>
      </p:sp>
      <p:sp>
        <p:nvSpPr>
          <p:cNvPr id="4" name="Slide Number Placeholder 3"/>
          <p:cNvSpPr>
            <a:spLocks noGrp="1"/>
          </p:cNvSpPr>
          <p:nvPr>
            <p:ph type="sldNum" sz="quarter" idx="5"/>
          </p:nvPr>
        </p:nvSpPr>
        <p:spPr/>
        <p:txBody>
          <a:bodyPr/>
          <a:lstStyle/>
          <a:p>
            <a:fld id="{DEF75CB5-5666-5049-9AE0-38EFD385C21E}" type="slidenum">
              <a:rPr lang="en-US" smtClean="0"/>
              <a:t>1</a:t>
            </a:fld>
            <a:endParaRPr lang="en-US" dirty="0"/>
          </a:p>
        </p:txBody>
      </p:sp>
    </p:spTree>
    <p:extLst>
      <p:ext uri="{BB962C8B-B14F-4D97-AF65-F5344CB8AC3E}">
        <p14:creationId xmlns:p14="http://schemas.microsoft.com/office/powerpoint/2010/main" val="1575999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 </a:t>
            </a:r>
          </a:p>
          <a:p>
            <a:r>
              <a:rPr lang="en-US" dirty="0"/>
              <a:t>Here’s what we’ll cover today.</a:t>
            </a:r>
            <a:br>
              <a:rPr lang="en-US" dirty="0"/>
            </a:br>
            <a:r>
              <a:rPr lang="en-US" dirty="0"/>
              <a:t>We’ll start with an introduction to Kubernetes—where it came from and why it was created.</a:t>
            </a:r>
            <a:br>
              <a:rPr lang="en-US" dirty="0"/>
            </a:br>
            <a:r>
              <a:rPr lang="en-US" dirty="0"/>
              <a:t>Then we’ll look at why it remains relevant, compare it with alternative tools, explore its architecture and core concepts, walk through how Kubernetes works in practice, and discuss when you should or shouldn’t use it.</a:t>
            </a:r>
            <a:br>
              <a:rPr lang="en-US" dirty="0"/>
            </a:br>
            <a:r>
              <a:rPr lang="en-US" dirty="0"/>
              <a:t>After talking about Kubernetes, we prepared some exercises that will help you better understand how it works.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F75CB5-5666-5049-9AE0-38EFD385C2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2673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 </a:t>
            </a:r>
          </a:p>
          <a:p>
            <a:r>
              <a:rPr lang="en-US" dirty="0"/>
              <a:t>Kubernetes exists because containers became extremely popular—they’re portable, isolated, and efficient.</a:t>
            </a:r>
            <a:br>
              <a:rPr lang="en-US" dirty="0"/>
            </a:br>
            <a:r>
              <a:rPr lang="en-US" dirty="0"/>
              <a:t>But as organizations started running hundreds or thousands of containers, managing them manually quickly became impossible.</a:t>
            </a:r>
            <a:br>
              <a:rPr lang="en-US" dirty="0"/>
            </a:br>
            <a:r>
              <a:rPr lang="en-US" dirty="0"/>
              <a:t>Kubernetes automates deployment, scaling, and management using a declarative model.</a:t>
            </a:r>
            <a:br>
              <a:rPr lang="en-US" dirty="0"/>
            </a:br>
            <a:r>
              <a:rPr lang="en-US" dirty="0"/>
              <a:t>That means you describe the state you want, and Kubernetes constantly works to make sure the system matches that state.</a:t>
            </a:r>
          </a:p>
        </p:txBody>
      </p:sp>
      <p:sp>
        <p:nvSpPr>
          <p:cNvPr id="4" name="Slide Number Placeholder 3"/>
          <p:cNvSpPr>
            <a:spLocks noGrp="1"/>
          </p:cNvSpPr>
          <p:nvPr>
            <p:ph type="sldNum" sz="quarter" idx="5"/>
          </p:nvPr>
        </p:nvSpPr>
        <p:spPr/>
        <p:txBody>
          <a:bodyPr/>
          <a:lstStyle/>
          <a:p>
            <a:fld id="{DEF75CB5-5666-5049-9AE0-38EFD385C21E}" type="slidenum">
              <a:rPr lang="en-US" smtClean="0"/>
              <a:t>3</a:t>
            </a:fld>
            <a:endParaRPr lang="en-US" dirty="0"/>
          </a:p>
        </p:txBody>
      </p:sp>
    </p:spTree>
    <p:extLst>
      <p:ext uri="{BB962C8B-B14F-4D97-AF65-F5344CB8AC3E}">
        <p14:creationId xmlns:p14="http://schemas.microsoft.com/office/powerpoint/2010/main" val="1860164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 </a:t>
            </a:r>
          </a:p>
          <a:p>
            <a:r>
              <a:rPr lang="en-US" dirty="0"/>
              <a:t>Kubernetes was developed at Google around 2013, based on internal systems like Borg and Omega.</a:t>
            </a:r>
            <a:br>
              <a:rPr lang="en-US" dirty="0"/>
            </a:br>
            <a:r>
              <a:rPr lang="en-US" dirty="0"/>
              <a:t>These systems had already been running massive distributed workloads for years.</a:t>
            </a:r>
            <a:br>
              <a:rPr lang="en-US" dirty="0"/>
            </a:br>
            <a:r>
              <a:rPr lang="en-US" dirty="0"/>
              <a:t>Google open-sourced Kubernetes in 2014 and donated it to the CNCF in 2015, which helped it grow into a cloud-agnostic, community-driven platform that works on-premises, in hybrid setups, and in public clouds.</a:t>
            </a:r>
          </a:p>
          <a:p>
            <a:endParaRPr lang="en-US" dirty="0"/>
          </a:p>
          <a:p>
            <a:r>
              <a:rPr lang="en-US" dirty="0"/>
              <a:t>This diagram gives a visual timeline of Kubernetes’ evolution—from its early Google roots to where it is today as one of the most widely adopted cloud-native technologies.</a:t>
            </a:r>
          </a:p>
        </p:txBody>
      </p:sp>
      <p:sp>
        <p:nvSpPr>
          <p:cNvPr id="4" name="Slide Number Placeholder 3"/>
          <p:cNvSpPr>
            <a:spLocks noGrp="1"/>
          </p:cNvSpPr>
          <p:nvPr>
            <p:ph type="sldNum" sz="quarter" idx="5"/>
          </p:nvPr>
        </p:nvSpPr>
        <p:spPr/>
        <p:txBody>
          <a:bodyPr/>
          <a:lstStyle/>
          <a:p>
            <a:fld id="{DEF75CB5-5666-5049-9AE0-38EFD385C21E}" type="slidenum">
              <a:rPr lang="en-US" smtClean="0"/>
              <a:t>4</a:t>
            </a:fld>
            <a:endParaRPr lang="en-US" dirty="0"/>
          </a:p>
        </p:txBody>
      </p:sp>
    </p:spTree>
    <p:extLst>
      <p:ext uri="{BB962C8B-B14F-4D97-AF65-F5344CB8AC3E}">
        <p14:creationId xmlns:p14="http://schemas.microsoft.com/office/powerpoint/2010/main" val="935072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 </a:t>
            </a:r>
          </a:p>
          <a:p>
            <a:r>
              <a:rPr lang="en-US" dirty="0"/>
              <a:t>Kubernetes addresses a set of core operational challenges.</a:t>
            </a:r>
            <a:br>
              <a:rPr lang="en-US" dirty="0"/>
            </a:br>
            <a:r>
              <a:rPr lang="en-US" dirty="0"/>
              <a:t>It automates container scheduling so workloads are placed efficiently.</a:t>
            </a:r>
            <a:br>
              <a:rPr lang="en-US" dirty="0"/>
            </a:br>
            <a:r>
              <a:rPr lang="en-US" dirty="0"/>
              <a:t>It provides self-healing, so failed containers restart automatically.</a:t>
            </a:r>
            <a:br>
              <a:rPr lang="en-US" dirty="0"/>
            </a:br>
            <a:r>
              <a:rPr lang="en-US" dirty="0"/>
              <a:t>It standardizes deployments using declarative YAML files.</a:t>
            </a:r>
            <a:br>
              <a:rPr lang="en-US" dirty="0"/>
            </a:br>
            <a:r>
              <a:rPr lang="en-US" dirty="0"/>
              <a:t>It supports rolling updates and instant rollbacks, making deployments safer.</a:t>
            </a:r>
            <a:br>
              <a:rPr lang="en-US" dirty="0"/>
            </a:br>
            <a:r>
              <a:rPr lang="en-US" dirty="0"/>
              <a:t>And it handles service discovery, networking, and scaling automatically.</a:t>
            </a:r>
            <a:br>
              <a:rPr lang="en-US" dirty="0"/>
            </a:br>
            <a:r>
              <a:rPr lang="en-US" dirty="0"/>
              <a:t>In short: it turns complex distributed operations into predictable, automated processes.</a:t>
            </a:r>
          </a:p>
        </p:txBody>
      </p:sp>
      <p:sp>
        <p:nvSpPr>
          <p:cNvPr id="4" name="Slide Number Placeholder 3"/>
          <p:cNvSpPr>
            <a:spLocks noGrp="1"/>
          </p:cNvSpPr>
          <p:nvPr>
            <p:ph type="sldNum" sz="quarter" idx="5"/>
          </p:nvPr>
        </p:nvSpPr>
        <p:spPr/>
        <p:txBody>
          <a:bodyPr/>
          <a:lstStyle/>
          <a:p>
            <a:fld id="{DEF75CB5-5666-5049-9AE0-38EFD385C21E}" type="slidenum">
              <a:rPr lang="en-US" smtClean="0"/>
              <a:t>5</a:t>
            </a:fld>
            <a:endParaRPr lang="en-US" dirty="0"/>
          </a:p>
        </p:txBody>
      </p:sp>
    </p:spTree>
    <p:extLst>
      <p:ext uri="{BB962C8B-B14F-4D97-AF65-F5344CB8AC3E}">
        <p14:creationId xmlns:p14="http://schemas.microsoft.com/office/powerpoint/2010/main" val="2982522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a:t>
            </a:r>
            <a:br>
              <a:rPr lang="en-US" dirty="0"/>
            </a:br>
            <a:r>
              <a:rPr lang="en-US" dirty="0"/>
              <a:t>Kubernetes remains relevant because it dominates the container orchestration ecosystem.</a:t>
            </a:r>
            <a:br>
              <a:rPr lang="en-US" dirty="0"/>
            </a:br>
            <a:r>
              <a:rPr lang="en-US" dirty="0"/>
              <a:t>It has a huge community, major vendor support, and a massive ecosystem of plugins and tools.</a:t>
            </a:r>
            <a:br>
              <a:rPr lang="en-US" dirty="0"/>
            </a:br>
            <a:r>
              <a:rPr lang="en-US" dirty="0"/>
              <a:t>It's open-source and extremely flexible.</a:t>
            </a:r>
            <a:br>
              <a:rPr lang="en-US" dirty="0"/>
            </a:br>
            <a:r>
              <a:rPr lang="en-US" dirty="0"/>
              <a:t>It also works consistently across multi-cloud and hybrid environments.</a:t>
            </a:r>
            <a:br>
              <a:rPr lang="en-US" dirty="0"/>
            </a:br>
            <a:r>
              <a:rPr lang="en-US" dirty="0"/>
              <a:t>And the ecosystem keeps evolving—tools like </a:t>
            </a:r>
            <a:r>
              <a:rPr lang="en-US" dirty="0" err="1"/>
              <a:t>Knative</a:t>
            </a:r>
            <a:r>
              <a:rPr lang="en-US" dirty="0"/>
              <a:t> and Kubeflow show how Kubernetes continues expanding into serverless and machine learning workloads.</a:t>
            </a:r>
          </a:p>
          <a:p>
            <a:endParaRPr lang="en-US" dirty="0"/>
          </a:p>
          <a:p>
            <a:r>
              <a:rPr lang="en-US" dirty="0"/>
              <a:t>This diagram gives you a sense of the enormous ecosystem around Kubernetes—covering networking, storage, CI/CD, observability, and more.</a:t>
            </a:r>
            <a:br>
              <a:rPr lang="en-US" dirty="0"/>
            </a:br>
            <a:r>
              <a:rPr lang="en-US" dirty="0"/>
              <a:t>This ecosystem is one reason Kubernetes remains the industry standard.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F75CB5-5666-5049-9AE0-38EFD385C2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5012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a:t>
            </a:r>
            <a:br>
              <a:rPr lang="en-US" dirty="0"/>
            </a:br>
            <a:r>
              <a:rPr lang="en-US" dirty="0"/>
              <a:t>Even though Kubernetes is dominant, there are alternatives.</a:t>
            </a:r>
            <a:br>
              <a:rPr lang="en-US" dirty="0"/>
            </a:br>
            <a:r>
              <a:rPr lang="en-US" dirty="0"/>
              <a:t>Docker Swarm is simple but doesn't scale as well.</a:t>
            </a:r>
            <a:br>
              <a:rPr lang="en-US" dirty="0"/>
            </a:br>
            <a:r>
              <a:rPr lang="en-US" dirty="0"/>
              <a:t>Nomad is lightweight and supports more workload types but has fewer built-in features.</a:t>
            </a:r>
            <a:br>
              <a:rPr lang="en-US" dirty="0"/>
            </a:br>
            <a:r>
              <a:rPr lang="en-US" dirty="0"/>
              <a:t>Mesos was popular for big data workloads but has declined in adoption.</a:t>
            </a:r>
            <a:br>
              <a:rPr lang="en-US" dirty="0"/>
            </a:br>
            <a:r>
              <a:rPr lang="en-US" dirty="0"/>
              <a:t>OpenShift adds enterprise features on top of Kubernetes but can be heavy and opinionated.</a:t>
            </a:r>
            <a:br>
              <a:rPr lang="en-US" dirty="0"/>
            </a:br>
            <a:r>
              <a:rPr lang="en-US" dirty="0"/>
              <a:t>This comparison gives you a sense of the trade-offs.</a:t>
            </a:r>
          </a:p>
        </p:txBody>
      </p:sp>
      <p:sp>
        <p:nvSpPr>
          <p:cNvPr id="4" name="Slide Number Placeholder 3"/>
          <p:cNvSpPr>
            <a:spLocks noGrp="1"/>
          </p:cNvSpPr>
          <p:nvPr>
            <p:ph type="sldNum" sz="quarter" idx="5"/>
          </p:nvPr>
        </p:nvSpPr>
        <p:spPr/>
        <p:txBody>
          <a:bodyPr/>
          <a:lstStyle/>
          <a:p>
            <a:fld id="{DEF75CB5-5666-5049-9AE0-38EFD385C21E}" type="slidenum">
              <a:rPr lang="en-US" smtClean="0"/>
              <a:t>7</a:t>
            </a:fld>
            <a:endParaRPr lang="en-US" dirty="0"/>
          </a:p>
        </p:txBody>
      </p:sp>
    </p:spTree>
    <p:extLst>
      <p:ext uri="{BB962C8B-B14F-4D97-AF65-F5344CB8AC3E}">
        <p14:creationId xmlns:p14="http://schemas.microsoft.com/office/powerpoint/2010/main" val="7124872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 </a:t>
            </a:r>
          </a:p>
          <a:p>
            <a:r>
              <a:rPr lang="en-US" dirty="0"/>
              <a:t>Kubernetes stands out because of its massive community, unmatched scalability, and rich set of built-in features like rolling updates, service discovery, and auto-scaling.</a:t>
            </a:r>
            <a:br>
              <a:rPr lang="en-US" dirty="0"/>
            </a:br>
            <a:r>
              <a:rPr lang="en-US" dirty="0"/>
              <a:t>It also runs almost anywhere—on-prem, in the cloud, or across multiple clouds—making it extremely portable</a:t>
            </a:r>
          </a:p>
          <a:p>
            <a:endParaRPr lang="en-US" dirty="0"/>
          </a:p>
          <a:p>
            <a:r>
              <a:rPr lang="en-US" dirty="0"/>
              <a:t>This is another view of the Kubernetes ecosystem, showing just how broad and mature the tooling landscape is.</a:t>
            </a:r>
            <a:br>
              <a:rPr lang="en-US" dirty="0"/>
            </a:br>
            <a:r>
              <a:rPr lang="en-US" dirty="0"/>
              <a:t>This maturity is a major factor in Kubernetes’ success.</a:t>
            </a:r>
          </a:p>
        </p:txBody>
      </p:sp>
      <p:sp>
        <p:nvSpPr>
          <p:cNvPr id="4" name="Slide Number Placeholder 3"/>
          <p:cNvSpPr>
            <a:spLocks noGrp="1"/>
          </p:cNvSpPr>
          <p:nvPr>
            <p:ph type="sldNum" sz="quarter" idx="5"/>
          </p:nvPr>
        </p:nvSpPr>
        <p:spPr/>
        <p:txBody>
          <a:bodyPr/>
          <a:lstStyle/>
          <a:p>
            <a:fld id="{DEF75CB5-5666-5049-9AE0-38EFD385C21E}" type="slidenum">
              <a:rPr lang="en-US" smtClean="0"/>
              <a:t>8</a:t>
            </a:fld>
            <a:endParaRPr lang="en-US" dirty="0"/>
          </a:p>
        </p:txBody>
      </p:sp>
    </p:spTree>
    <p:extLst>
      <p:ext uri="{BB962C8B-B14F-4D97-AF65-F5344CB8AC3E}">
        <p14:creationId xmlns:p14="http://schemas.microsoft.com/office/powerpoint/2010/main" val="3765125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a:t>
            </a:r>
            <a:br>
              <a:rPr lang="en-US" dirty="0"/>
            </a:br>
            <a:r>
              <a:rPr lang="en-US" dirty="0"/>
              <a:t>Kubernetes is powerful, but it’s not always the right choice.</a:t>
            </a:r>
            <a:br>
              <a:rPr lang="en-US" dirty="0"/>
            </a:br>
            <a:r>
              <a:rPr lang="en-US" dirty="0"/>
              <a:t>It shines in complex, distributed systems—especially microservices.</a:t>
            </a:r>
            <a:br>
              <a:rPr lang="en-US" dirty="0"/>
            </a:br>
            <a:r>
              <a:rPr lang="en-US" dirty="0"/>
              <a:t>But for small applications, low traffic, or teams without DevOps expertise, Kubernetes may add unnecessary complexity.</a:t>
            </a:r>
            <a:br>
              <a:rPr lang="en-US" dirty="0"/>
            </a:br>
            <a:r>
              <a:rPr lang="en-US" dirty="0"/>
              <a:t>It’s important to weigh the benefits against the operational overhead.</a:t>
            </a:r>
          </a:p>
          <a:p>
            <a:endParaRPr lang="en-US" dirty="0"/>
          </a:p>
          <a:p>
            <a:r>
              <a:rPr lang="en-US" dirty="0"/>
              <a:t>This table summarizes when Kubernetes makes sense:</a:t>
            </a:r>
            <a:br>
              <a:rPr lang="en-US" dirty="0"/>
            </a:br>
            <a:r>
              <a:rPr lang="en-US" dirty="0"/>
              <a:t>Use it for microservices, high-availability systems, frequent deployments, and hybrid/multi-cloud environments.</a:t>
            </a:r>
            <a:br>
              <a:rPr lang="en-US" dirty="0"/>
            </a:br>
            <a:r>
              <a:rPr lang="en-US" dirty="0"/>
              <a:t>Avoid it for simple monolithic apps, single-instance deployments, small teams without Kubernetes experience, or projects where a simpler PaaS or serverless platform is enough.</a:t>
            </a:r>
          </a:p>
        </p:txBody>
      </p:sp>
      <p:sp>
        <p:nvSpPr>
          <p:cNvPr id="4" name="Slide Number Placeholder 3"/>
          <p:cNvSpPr>
            <a:spLocks noGrp="1"/>
          </p:cNvSpPr>
          <p:nvPr>
            <p:ph type="sldNum" sz="quarter" idx="5"/>
          </p:nvPr>
        </p:nvSpPr>
        <p:spPr/>
        <p:txBody>
          <a:bodyPr/>
          <a:lstStyle/>
          <a:p>
            <a:fld id="{DEF75CB5-5666-5049-9AE0-38EFD385C21E}" type="slidenum">
              <a:rPr lang="en-US" smtClean="0"/>
              <a:t>9</a:t>
            </a:fld>
            <a:endParaRPr lang="en-US" dirty="0"/>
          </a:p>
        </p:txBody>
      </p:sp>
    </p:spTree>
    <p:extLst>
      <p:ext uri="{BB962C8B-B14F-4D97-AF65-F5344CB8AC3E}">
        <p14:creationId xmlns:p14="http://schemas.microsoft.com/office/powerpoint/2010/main" val="1784199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a:t>
            </a:r>
            <a:br>
              <a:rPr lang="en-US" dirty="0"/>
            </a:br>
            <a:r>
              <a:rPr lang="en-US" dirty="0"/>
              <a:t>Here’s a quick breakdown of the Kubernetes architecture.</a:t>
            </a:r>
            <a:br>
              <a:rPr lang="en-US" dirty="0"/>
            </a:br>
            <a:r>
              <a:rPr lang="en-US" dirty="0"/>
              <a:t>The control plane is the brain—it includes the API server, </a:t>
            </a:r>
            <a:r>
              <a:rPr lang="en-US" dirty="0" err="1"/>
              <a:t>etcd</a:t>
            </a:r>
            <a:r>
              <a:rPr lang="en-US" dirty="0"/>
              <a:t> for storing cluster state, the scheduler, and various controllers.</a:t>
            </a:r>
            <a:br>
              <a:rPr lang="en-US" dirty="0"/>
            </a:br>
            <a:r>
              <a:rPr lang="en-US" dirty="0"/>
              <a:t>Worker nodes actually run your applications.</a:t>
            </a:r>
            <a:br>
              <a:rPr lang="en-US" dirty="0"/>
            </a:br>
            <a:r>
              <a:rPr lang="en-US" dirty="0"/>
              <a:t>Each node has a </a:t>
            </a:r>
            <a:r>
              <a:rPr lang="en-US" dirty="0" err="1"/>
              <a:t>kubelet</a:t>
            </a:r>
            <a:r>
              <a:rPr lang="en-US" dirty="0"/>
              <a:t>, a container runtime like </a:t>
            </a:r>
            <a:r>
              <a:rPr lang="en-US" dirty="0" err="1"/>
              <a:t>containerd</a:t>
            </a:r>
            <a:r>
              <a:rPr lang="en-US" dirty="0"/>
              <a:t>, and </a:t>
            </a:r>
            <a:r>
              <a:rPr lang="en-US" dirty="0" err="1"/>
              <a:t>kube</a:t>
            </a:r>
            <a:r>
              <a:rPr lang="en-US" dirty="0"/>
              <a:t>-proxy for networking.</a:t>
            </a:r>
            <a:br>
              <a:rPr lang="en-US" dirty="0"/>
            </a:br>
            <a:r>
              <a:rPr lang="en-US" dirty="0"/>
              <a:t>Together, these components coordinate to keep the cluster up and running.</a:t>
            </a:r>
          </a:p>
        </p:txBody>
      </p:sp>
      <p:sp>
        <p:nvSpPr>
          <p:cNvPr id="4" name="Slide Number Placeholder 3"/>
          <p:cNvSpPr>
            <a:spLocks noGrp="1"/>
          </p:cNvSpPr>
          <p:nvPr>
            <p:ph type="sldNum" sz="quarter" idx="5"/>
          </p:nvPr>
        </p:nvSpPr>
        <p:spPr/>
        <p:txBody>
          <a:bodyPr/>
          <a:lstStyle/>
          <a:p>
            <a:fld id="{DEF75CB5-5666-5049-9AE0-38EFD385C21E}" type="slidenum">
              <a:rPr lang="en-US" smtClean="0"/>
              <a:t>10</a:t>
            </a:fld>
            <a:endParaRPr lang="en-US" dirty="0"/>
          </a:p>
        </p:txBody>
      </p:sp>
    </p:spTree>
    <p:extLst>
      <p:ext uri="{BB962C8B-B14F-4D97-AF65-F5344CB8AC3E}">
        <p14:creationId xmlns:p14="http://schemas.microsoft.com/office/powerpoint/2010/main" val="839213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a:t>
            </a:r>
            <a:br>
              <a:rPr lang="en-US" dirty="0"/>
            </a:br>
            <a:r>
              <a:rPr lang="en-US" dirty="0"/>
              <a:t>This diagram visualizes everything we just covered—control plane components at the top and worker nodes below.</a:t>
            </a:r>
            <a:br>
              <a:rPr lang="en-US" dirty="0"/>
            </a:br>
            <a:r>
              <a:rPr lang="en-US" dirty="0"/>
              <a:t>It helps you understand how Kubernetes decides where to run applications and how it maintains the desired state.</a:t>
            </a:r>
          </a:p>
        </p:txBody>
      </p:sp>
      <p:sp>
        <p:nvSpPr>
          <p:cNvPr id="4" name="Slide Number Placeholder 3"/>
          <p:cNvSpPr>
            <a:spLocks noGrp="1"/>
          </p:cNvSpPr>
          <p:nvPr>
            <p:ph type="sldNum" sz="quarter" idx="5"/>
          </p:nvPr>
        </p:nvSpPr>
        <p:spPr/>
        <p:txBody>
          <a:bodyPr/>
          <a:lstStyle/>
          <a:p>
            <a:fld id="{DEF75CB5-5666-5049-9AE0-38EFD385C21E}" type="slidenum">
              <a:rPr lang="en-US" smtClean="0"/>
              <a:t>11</a:t>
            </a:fld>
            <a:endParaRPr lang="en-US" dirty="0"/>
          </a:p>
        </p:txBody>
      </p:sp>
    </p:spTree>
    <p:extLst>
      <p:ext uri="{BB962C8B-B14F-4D97-AF65-F5344CB8AC3E}">
        <p14:creationId xmlns:p14="http://schemas.microsoft.com/office/powerpoint/2010/main" val="661510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8E9F4-93CF-FC2E-F4C2-7D9B778BA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04921-6118-06CE-B624-BF157A0581F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34BB64E-558F-10F9-80B2-9EECECF74930}"/>
              </a:ext>
            </a:extLst>
          </p:cNvPr>
          <p:cNvSpPr>
            <a:spLocks noGrp="1"/>
          </p:cNvSpPr>
          <p:nvPr>
            <p:ph type="body" idx="1"/>
          </p:nvPr>
        </p:nvSpPr>
        <p:spPr/>
        <p:txBody>
          <a:bodyPr/>
          <a:lstStyle/>
          <a:p>
            <a:r>
              <a:rPr lang="en-US" dirty="0"/>
              <a:t>D: </a:t>
            </a:r>
            <a:br>
              <a:rPr lang="en-US" dirty="0"/>
            </a:br>
            <a:r>
              <a:rPr lang="en-US" dirty="0"/>
              <a:t>Kubernetes introduces several key abstractions.</a:t>
            </a:r>
            <a:br>
              <a:rPr lang="en-US" dirty="0"/>
            </a:br>
            <a:r>
              <a:rPr lang="en-US" dirty="0"/>
              <a:t>Pods are the smallest deployable units.</a:t>
            </a:r>
            <a:br>
              <a:rPr lang="en-US" dirty="0"/>
            </a:br>
            <a:r>
              <a:rPr lang="en-US" dirty="0" err="1"/>
              <a:t>ReplicaSets</a:t>
            </a:r>
            <a:r>
              <a:rPr lang="en-US" dirty="0"/>
              <a:t> ensure a certain number of pods are always running.</a:t>
            </a:r>
            <a:br>
              <a:rPr lang="en-US" dirty="0"/>
            </a:br>
            <a:r>
              <a:rPr lang="en-US" dirty="0"/>
              <a:t>Deployments manage updates over time.</a:t>
            </a:r>
            <a:br>
              <a:rPr lang="en-US" dirty="0"/>
            </a:br>
            <a:r>
              <a:rPr lang="en-US" dirty="0"/>
              <a:t>Services provide networking and stable access points.</a:t>
            </a:r>
            <a:br>
              <a:rPr lang="en-US" dirty="0"/>
            </a:br>
            <a:r>
              <a:rPr lang="en-US" dirty="0" err="1"/>
              <a:t>ConfigMaps</a:t>
            </a:r>
            <a:r>
              <a:rPr lang="en-US" dirty="0"/>
              <a:t> and Secrets store configuration.</a:t>
            </a:r>
            <a:br>
              <a:rPr lang="en-US" dirty="0"/>
            </a:br>
            <a:r>
              <a:rPr lang="en-US" dirty="0" err="1"/>
              <a:t>PersistentVolumes</a:t>
            </a:r>
            <a:r>
              <a:rPr lang="en-US" dirty="0"/>
              <a:t> handle storage.</a:t>
            </a:r>
            <a:br>
              <a:rPr lang="en-US" dirty="0"/>
            </a:br>
            <a:r>
              <a:rPr lang="en-US" dirty="0"/>
              <a:t>Understanding these abstractions is essential to working with Kubernetes.</a:t>
            </a:r>
          </a:p>
          <a:p>
            <a:endParaRPr lang="en-US" dirty="0"/>
          </a:p>
          <a:p>
            <a:r>
              <a:rPr lang="en-US" dirty="0"/>
              <a:t>This flowchart shows how requests and objects flow through Kubernetes—from definitions in YAML, through the API server, controllers, scheduler, and finally the nodes that run the containers.</a:t>
            </a:r>
          </a:p>
        </p:txBody>
      </p:sp>
      <p:sp>
        <p:nvSpPr>
          <p:cNvPr id="4" name="Slide Number Placeholder 3">
            <a:extLst>
              <a:ext uri="{FF2B5EF4-FFF2-40B4-BE49-F238E27FC236}">
                <a16:creationId xmlns:a16="http://schemas.microsoft.com/office/drawing/2014/main" id="{360AD87B-2473-FC3E-C559-F922F4E4A42E}"/>
              </a:ext>
            </a:extLst>
          </p:cNvPr>
          <p:cNvSpPr>
            <a:spLocks noGrp="1"/>
          </p:cNvSpPr>
          <p:nvPr>
            <p:ph type="sldNum" sz="quarter" idx="5"/>
          </p:nvPr>
        </p:nvSpPr>
        <p:spPr/>
        <p:txBody>
          <a:bodyPr/>
          <a:lstStyle/>
          <a:p>
            <a:fld id="{DEF75CB5-5666-5049-9AE0-38EFD385C21E}" type="slidenum">
              <a:rPr lang="en-US" smtClean="0"/>
              <a:t>12</a:t>
            </a:fld>
            <a:endParaRPr lang="en-US" dirty="0"/>
          </a:p>
        </p:txBody>
      </p:sp>
    </p:spTree>
    <p:extLst>
      <p:ext uri="{BB962C8B-B14F-4D97-AF65-F5344CB8AC3E}">
        <p14:creationId xmlns:p14="http://schemas.microsoft.com/office/powerpoint/2010/main" val="39915197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
            </a:r>
            <a:br>
              <a:rPr lang="en-US" dirty="0"/>
            </a:br>
            <a:r>
              <a:rPr lang="en-US" dirty="0"/>
              <a:t>Kubernetes constantly compares the actual state of the cluster to the desired state defined by the user.</a:t>
            </a:r>
            <a:br>
              <a:rPr lang="en-US" dirty="0"/>
            </a:br>
            <a:r>
              <a:rPr lang="en-US" dirty="0"/>
              <a:t>This is known as reconciliation.</a:t>
            </a:r>
            <a:br>
              <a:rPr lang="en-US" dirty="0"/>
            </a:br>
            <a:r>
              <a:rPr lang="en-US" dirty="0"/>
              <a:t>If a pod crashes, it gets restarted.</a:t>
            </a:r>
            <a:br>
              <a:rPr lang="en-US" dirty="0"/>
            </a:br>
            <a:r>
              <a:rPr lang="en-US" dirty="0"/>
              <a:t>If a node fails, pods are moved.</a:t>
            </a:r>
            <a:br>
              <a:rPr lang="en-US" dirty="0"/>
            </a:br>
            <a:r>
              <a:rPr lang="en-US" dirty="0"/>
              <a:t>If you change your YAML and apply it, Kubernetes updates the system automatically.</a:t>
            </a:r>
            <a:br>
              <a:rPr lang="en-US" dirty="0"/>
            </a:br>
            <a:r>
              <a:rPr lang="en-US" dirty="0"/>
              <a:t>This loop is the foundation of Kubernetes reliability.</a:t>
            </a:r>
          </a:p>
        </p:txBody>
      </p:sp>
      <p:sp>
        <p:nvSpPr>
          <p:cNvPr id="4" name="Slide Number Placeholder 3"/>
          <p:cNvSpPr>
            <a:spLocks noGrp="1"/>
          </p:cNvSpPr>
          <p:nvPr>
            <p:ph type="sldNum" sz="quarter" idx="5"/>
          </p:nvPr>
        </p:nvSpPr>
        <p:spPr/>
        <p:txBody>
          <a:bodyPr/>
          <a:lstStyle/>
          <a:p>
            <a:fld id="{DEF75CB5-5666-5049-9AE0-38EFD385C21E}" type="slidenum">
              <a:rPr lang="en-US" smtClean="0"/>
              <a:t>13</a:t>
            </a:fld>
            <a:endParaRPr lang="en-US" dirty="0"/>
          </a:p>
        </p:txBody>
      </p:sp>
    </p:spTree>
    <p:extLst>
      <p:ext uri="{BB962C8B-B14F-4D97-AF65-F5344CB8AC3E}">
        <p14:creationId xmlns:p14="http://schemas.microsoft.com/office/powerpoint/2010/main" val="2292768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a:t>
            </a:r>
          </a:p>
        </p:txBody>
      </p:sp>
      <p:sp>
        <p:nvSpPr>
          <p:cNvPr id="4" name="Slide Number Placeholder 3"/>
          <p:cNvSpPr>
            <a:spLocks noGrp="1"/>
          </p:cNvSpPr>
          <p:nvPr>
            <p:ph type="sldNum" sz="quarter" idx="5"/>
          </p:nvPr>
        </p:nvSpPr>
        <p:spPr/>
        <p:txBody>
          <a:bodyPr/>
          <a:lstStyle/>
          <a:p>
            <a:fld id="{DEF75CB5-5666-5049-9AE0-38EFD385C21E}" type="slidenum">
              <a:rPr lang="en-US" smtClean="0"/>
              <a:t>14</a:t>
            </a:fld>
            <a:endParaRPr lang="en-US" dirty="0"/>
          </a:p>
        </p:txBody>
      </p:sp>
    </p:spTree>
    <p:extLst>
      <p:ext uri="{BB962C8B-B14F-4D97-AF65-F5344CB8AC3E}">
        <p14:creationId xmlns:p14="http://schemas.microsoft.com/office/powerpoint/2010/main" val="3266221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recommended resources to continue learning.</a:t>
            </a:r>
            <a:br>
              <a:rPr lang="en-US" dirty="0"/>
            </a:br>
            <a:r>
              <a:rPr lang="en-US" dirty="0"/>
              <a:t>The official Kubernetes documentation is excellent.</a:t>
            </a:r>
            <a:br>
              <a:rPr lang="en-US" dirty="0"/>
            </a:br>
            <a:r>
              <a:rPr lang="en-US" dirty="0"/>
              <a:t>Interactive tutorials like </a:t>
            </a:r>
            <a:r>
              <a:rPr lang="en-US" dirty="0" err="1"/>
              <a:t>Katacoda</a:t>
            </a:r>
            <a:r>
              <a:rPr lang="en-US" dirty="0"/>
              <a:t> help you practice hands-on.</a:t>
            </a:r>
            <a:br>
              <a:rPr lang="en-US" dirty="0"/>
            </a:br>
            <a:r>
              <a:rPr lang="en-US" dirty="0"/>
              <a:t>The book </a:t>
            </a:r>
            <a:r>
              <a:rPr lang="en-US" i="1" dirty="0"/>
              <a:t>Kubernetes Up &amp; Running</a:t>
            </a:r>
            <a:r>
              <a:rPr lang="en-US" dirty="0"/>
              <a:t> is a great deep dive.</a:t>
            </a:r>
            <a:br>
              <a:rPr lang="en-US" dirty="0"/>
            </a:br>
            <a:r>
              <a:rPr lang="en-US" dirty="0"/>
              <a:t>And CNCF community blogs and reports help you stay up-to-date with new features.</a:t>
            </a:r>
          </a:p>
        </p:txBody>
      </p:sp>
      <p:sp>
        <p:nvSpPr>
          <p:cNvPr id="4" name="Slide Number Placeholder 3"/>
          <p:cNvSpPr>
            <a:spLocks noGrp="1"/>
          </p:cNvSpPr>
          <p:nvPr>
            <p:ph type="sldNum" sz="quarter" idx="5"/>
          </p:nvPr>
        </p:nvSpPr>
        <p:spPr/>
        <p:txBody>
          <a:bodyPr/>
          <a:lstStyle/>
          <a:p>
            <a:fld id="{DEF75CB5-5666-5049-9AE0-38EFD385C21E}" type="slidenum">
              <a:rPr lang="en-US" smtClean="0"/>
              <a:t>15</a:t>
            </a:fld>
            <a:endParaRPr lang="en-US" dirty="0"/>
          </a:p>
        </p:txBody>
      </p:sp>
    </p:spTree>
    <p:extLst>
      <p:ext uri="{BB962C8B-B14F-4D97-AF65-F5344CB8AC3E}">
        <p14:creationId xmlns:p14="http://schemas.microsoft.com/office/powerpoint/2010/main" val="23302115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16</a:t>
            </a:fld>
            <a:endParaRPr lang="en-US" dirty="0"/>
          </a:p>
        </p:txBody>
      </p:sp>
    </p:spTree>
    <p:extLst>
      <p:ext uri="{BB962C8B-B14F-4D97-AF65-F5344CB8AC3E}">
        <p14:creationId xmlns:p14="http://schemas.microsoft.com/office/powerpoint/2010/main" val="41678901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Subtitle">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0" y="304799"/>
            <a:ext cx="12191998" cy="3215641"/>
          </a:xfrm>
        </p:spPr>
        <p:txBody>
          <a:bodyPr lIns="0" rIns="0" bIns="0" anchor="b" anchorCtr="0">
            <a:noAutofit/>
          </a:bodyPr>
          <a:lstStyle>
            <a:lvl1pPr algn="ctr">
              <a:defRPr sz="6000" kern="1200" cap="all" spc="300" baseline="0">
                <a:solidFill>
                  <a:schemeClr val="accent3">
                    <a:lumMod val="75000"/>
                  </a:schemeClr>
                </a:solidFill>
              </a:defRPr>
            </a:lvl1pPr>
          </a:lstStyle>
          <a:p>
            <a:r>
              <a:rPr lang="en-US" dirty="0"/>
              <a:t>Click to add title</a:t>
            </a:r>
          </a:p>
        </p:txBody>
      </p:sp>
      <p:sp>
        <p:nvSpPr>
          <p:cNvPr id="12" name="Subtitle 2">
            <a:extLst>
              <a:ext uri="{FF2B5EF4-FFF2-40B4-BE49-F238E27FC236}">
                <a16:creationId xmlns:a16="http://schemas.microsoft.com/office/drawing/2014/main" id="{58B9CAE2-F3DD-D6D3-96C8-D947A4117752}"/>
              </a:ext>
            </a:extLst>
          </p:cNvPr>
          <p:cNvSpPr>
            <a:spLocks noGrp="1"/>
          </p:cNvSpPr>
          <p:nvPr>
            <p:ph type="subTitle" idx="1" hasCustomPrompt="1"/>
          </p:nvPr>
        </p:nvSpPr>
        <p:spPr>
          <a:xfrm>
            <a:off x="3" y="3670628"/>
            <a:ext cx="12191997" cy="2577772"/>
          </a:xfrm>
        </p:spPr>
        <p:txBody>
          <a:bodyPr>
            <a:noAutofit/>
          </a:bodyPr>
          <a:lstStyle>
            <a:lvl1pPr marL="0" indent="0" algn="ctr">
              <a:buNone/>
              <a:defRPr sz="3200" b="0" i="0" cap="all" spc="600" baseline="0">
                <a:solidFill>
                  <a:schemeClr val="accent3"/>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119321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3" y="1821180"/>
            <a:ext cx="12191994" cy="3215641"/>
          </a:xfrm>
        </p:spPr>
        <p:txBody>
          <a:bodyPr lIns="0" rIns="0" bIns="0" anchor="ctr" anchorCtr="0">
            <a:noAutofit/>
          </a:bodyPr>
          <a:lstStyle>
            <a:lvl1pPr algn="ctr">
              <a:defRPr sz="6000" kern="1200" cap="all" spc="300" baseline="0">
                <a:solidFill>
                  <a:schemeClr val="accent3">
                    <a:lumMod val="75000"/>
                  </a:schemeClr>
                </a:solidFill>
              </a:defRPr>
            </a:lvl1pPr>
          </a:lstStyle>
          <a:p>
            <a:r>
              <a:rPr lang="en-US" dirty="0"/>
              <a:t>Click to add title</a:t>
            </a:r>
          </a:p>
        </p:txBody>
      </p:sp>
    </p:spTree>
    <p:extLst>
      <p:ext uri="{BB962C8B-B14F-4D97-AF65-F5344CB8AC3E}">
        <p14:creationId xmlns:p14="http://schemas.microsoft.com/office/powerpoint/2010/main" val="1635045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3">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A084D09-1B2D-4EE2-82A7-83196133B801}"/>
              </a:ext>
              <a:ext uri="{C183D7F6-B498-43B3-948B-1728B52AA6E4}">
                <adec:decorative xmlns:adec="http://schemas.microsoft.com/office/drawing/2017/decorative" val="1"/>
              </a:ext>
            </a:extLst>
          </p:cNvPr>
          <p:cNvGrpSpPr/>
          <p:nvPr userDrawn="1"/>
        </p:nvGrpSpPr>
        <p:grpSpPr>
          <a:xfrm>
            <a:off x="0" y="-6350"/>
            <a:ext cx="12185769" cy="6864350"/>
            <a:chOff x="0" y="-6350"/>
            <a:chExt cx="12185769" cy="6864350"/>
          </a:xfrm>
        </p:grpSpPr>
        <p:sp>
          <p:nvSpPr>
            <p:cNvPr id="4" name="Rectangle 3">
              <a:extLst>
                <a:ext uri="{FF2B5EF4-FFF2-40B4-BE49-F238E27FC236}">
                  <a16:creationId xmlns:a16="http://schemas.microsoft.com/office/drawing/2014/main" id="{53860AA6-1B14-DF89-B725-CC444E502028}"/>
                </a:ext>
                <a:ext uri="{C183D7F6-B498-43B3-948B-1728B52AA6E4}">
                  <adec:decorative xmlns:adec="http://schemas.microsoft.com/office/drawing/2017/decorative" val="1"/>
                </a:ext>
              </a:extLst>
            </p:cNvPr>
            <p:cNvSpPr/>
            <p:nvPr/>
          </p:nvSpPr>
          <p:spPr>
            <a:xfrm>
              <a:off x="0" y="-6350"/>
              <a:ext cx="6160393"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Content Placeholder 14">
              <a:extLst>
                <a:ext uri="{FF2B5EF4-FFF2-40B4-BE49-F238E27FC236}">
                  <a16:creationId xmlns:a16="http://schemas.microsoft.com/office/drawing/2014/main" id="{D172E570-D67F-4980-88C2-CF6560C1C193}"/>
                </a:ext>
                <a:ext uri="{C183D7F6-B498-43B3-948B-1728B52AA6E4}">
                  <adec:decorative xmlns:adec="http://schemas.microsoft.com/office/drawing/2017/decorative" val="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rot="5400000">
              <a:off x="5750267" y="410125"/>
              <a:ext cx="6845628" cy="6025377"/>
            </a:xfrm>
            <a:prstGeom prst="rect">
              <a:avLst/>
            </a:prstGeom>
          </p:spPr>
        </p:pic>
        <p:grpSp>
          <p:nvGrpSpPr>
            <p:cNvPr id="7" name="Group 6">
              <a:extLst>
                <a:ext uri="{FF2B5EF4-FFF2-40B4-BE49-F238E27FC236}">
                  <a16:creationId xmlns:a16="http://schemas.microsoft.com/office/drawing/2014/main" id="{AF90BF68-CF26-6705-CBFD-428BEB787EDB}"/>
                </a:ext>
              </a:extLst>
            </p:cNvPr>
            <p:cNvGrpSpPr/>
            <p:nvPr/>
          </p:nvGrpSpPr>
          <p:grpSpPr>
            <a:xfrm rot="10800000">
              <a:off x="5304704" y="259572"/>
              <a:ext cx="584267" cy="390181"/>
              <a:chOff x="1876516" y="596691"/>
              <a:chExt cx="584267" cy="390181"/>
            </a:xfrm>
          </p:grpSpPr>
          <p:sp>
            <p:nvSpPr>
              <p:cNvPr id="8" name="Oval 7">
                <a:extLst>
                  <a:ext uri="{FF2B5EF4-FFF2-40B4-BE49-F238E27FC236}">
                    <a16:creationId xmlns:a16="http://schemas.microsoft.com/office/drawing/2014/main" id="{1066F635-8DB9-B091-8467-D8F0327217F4}"/>
                  </a:ext>
                  <a:ext uri="{C183D7F6-B498-43B3-948B-1728B52AA6E4}">
                    <adec:decorative xmlns:adec="http://schemas.microsoft.com/office/drawing/2017/decorative" val="1"/>
                  </a:ext>
                </a:extLst>
              </p:cNvPr>
              <p:cNvSpPr/>
              <p:nvPr/>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Graphic 12">
                <a:extLst>
                  <a:ext uri="{FF2B5EF4-FFF2-40B4-BE49-F238E27FC236}">
                    <a16:creationId xmlns:a16="http://schemas.microsoft.com/office/drawing/2014/main" id="{882D2FD3-A05B-400C-6347-115486FFD943}"/>
                  </a:ext>
                  <a:ext uri="{C183D7F6-B498-43B3-948B-1728B52AA6E4}">
                    <adec:decorative xmlns:adec="http://schemas.microsoft.com/office/drawing/2017/decorative" val="1"/>
                  </a:ext>
                </a:extLst>
              </p:cNvPr>
              <p:cNvSpPr/>
              <p:nvPr/>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960459F4-C5B9-4070-46D1-2E7DA3EFBFC9}"/>
              </a:ext>
            </a:extLst>
          </p:cNvPr>
          <p:cNvSpPr>
            <a:spLocks noGrp="1"/>
          </p:cNvSpPr>
          <p:nvPr>
            <p:ph type="title"/>
          </p:nvPr>
        </p:nvSpPr>
        <p:spPr>
          <a:xfrm>
            <a:off x="838201" y="365125"/>
            <a:ext cx="4466502" cy="1936866"/>
          </a:xfrm>
        </p:spPr>
        <p:txBody>
          <a:bodyPr anchor="b"/>
          <a:lstStyle>
            <a:lvl1pPr>
              <a:defRPr sz="3200" cap="all" baseline="0">
                <a:solidFill>
                  <a:schemeClr val="accent3">
                    <a:lumMod val="75000"/>
                  </a:schemeClr>
                </a:solidFill>
              </a:defRPr>
            </a:lvl1pPr>
          </a:lstStyle>
          <a:p>
            <a:r>
              <a:rPr lang="en-US"/>
              <a:t>Click to edit Master title style</a:t>
            </a:r>
            <a:endParaRPr lang="en-US" dirty="0"/>
          </a:p>
        </p:txBody>
      </p:sp>
      <p:cxnSp>
        <p:nvCxnSpPr>
          <p:cNvPr id="5" name="Straight Connector 4">
            <a:extLst>
              <a:ext uri="{FF2B5EF4-FFF2-40B4-BE49-F238E27FC236}">
                <a16:creationId xmlns:a16="http://schemas.microsoft.com/office/drawing/2014/main" id="{34F613B1-323C-4C25-4526-1D3313A7161D}"/>
              </a:ext>
              <a:ext uri="{C183D7F6-B498-43B3-948B-1728B52AA6E4}">
                <adec:decorative xmlns:adec="http://schemas.microsoft.com/office/drawing/2017/decorative" val="1"/>
              </a:ext>
            </a:extLst>
          </p:cNvPr>
          <p:cNvCxnSpPr>
            <a:cxnSpLocks/>
          </p:cNvCxnSpPr>
          <p:nvPr userDrawn="1"/>
        </p:nvCxnSpPr>
        <p:spPr>
          <a:xfrm>
            <a:off x="835831" y="2620500"/>
            <a:ext cx="4471665"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2D2C2143-1936-BBDA-A6A8-40B6DBD16AED}"/>
              </a:ext>
            </a:extLst>
          </p:cNvPr>
          <p:cNvSpPr>
            <a:spLocks noGrp="1"/>
          </p:cNvSpPr>
          <p:nvPr>
            <p:ph sz="quarter" idx="10" hasCustomPrompt="1"/>
          </p:nvPr>
        </p:nvSpPr>
        <p:spPr>
          <a:xfrm>
            <a:off x="838201" y="3097848"/>
            <a:ext cx="4466504" cy="3405187"/>
          </a:xfrm>
        </p:spPr>
        <p:txBody>
          <a:bodyPr/>
          <a:lstStyle>
            <a:lvl1pPr>
              <a:lnSpc>
                <a:spcPct val="120000"/>
              </a:lnSpc>
              <a:spcBef>
                <a:spcPts val="1000"/>
              </a:spcBef>
              <a:spcAft>
                <a:spcPts val="600"/>
              </a:spcAft>
              <a:defRPr sz="1800">
                <a:solidFill>
                  <a:schemeClr val="bg1"/>
                </a:solidFill>
                <a:latin typeface="+mn-lt"/>
              </a:defRPr>
            </a:lvl1pPr>
            <a:lvl2pPr>
              <a:lnSpc>
                <a:spcPct val="120000"/>
              </a:lnSpc>
              <a:spcBef>
                <a:spcPts val="1000"/>
              </a:spcBef>
              <a:spcAft>
                <a:spcPts val="600"/>
              </a:spcAft>
              <a:defRPr sz="1600">
                <a:solidFill>
                  <a:schemeClr val="bg1"/>
                </a:solidFill>
                <a:latin typeface="+mn-lt"/>
              </a:defRPr>
            </a:lvl2pPr>
            <a:lvl3pPr>
              <a:lnSpc>
                <a:spcPct val="120000"/>
              </a:lnSpc>
              <a:spcBef>
                <a:spcPts val="1000"/>
              </a:spcBef>
              <a:spcAft>
                <a:spcPts val="600"/>
              </a:spcAft>
              <a:defRPr sz="1400">
                <a:solidFill>
                  <a:schemeClr val="bg1"/>
                </a:solidFill>
                <a:latin typeface="+mn-lt"/>
              </a:defRPr>
            </a:lvl3pPr>
            <a:lvl4pPr>
              <a:lnSpc>
                <a:spcPct val="120000"/>
              </a:lnSpc>
              <a:spcBef>
                <a:spcPts val="1000"/>
              </a:spcBef>
              <a:spcAft>
                <a:spcPts val="600"/>
              </a:spcAft>
              <a:defRPr sz="1200">
                <a:solidFill>
                  <a:schemeClr val="bg1"/>
                </a:solidFill>
                <a:latin typeface="+mn-lt"/>
              </a:defRPr>
            </a:lvl4pPr>
            <a:lvl5pPr>
              <a:lnSpc>
                <a:spcPct val="120000"/>
              </a:lnSpc>
              <a:spcBef>
                <a:spcPts val="1000"/>
              </a:spcBef>
              <a:spcAft>
                <a:spcPts val="600"/>
              </a:spcAft>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09040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2 column">
    <p:bg>
      <p:bgPr>
        <a:gradFill>
          <a:gsLst>
            <a:gs pos="100000">
              <a:schemeClr val="tx2"/>
            </a:gs>
            <a:gs pos="81000">
              <a:schemeClr val="accent6"/>
            </a:gs>
            <a:gs pos="31000">
              <a:srgbClr val="02090E"/>
            </a:gs>
            <a:gs pos="14000">
              <a:schemeClr val="accent4">
                <a:lumMod val="75000"/>
              </a:schemeClr>
            </a:gs>
            <a:gs pos="0">
              <a:schemeClr val="accent4"/>
            </a:gs>
          </a:gsLst>
          <a:lin ang="12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B5B81B-FCE8-FE9C-8F0A-6488B25F0F6A}"/>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21869" y="579120"/>
            <a:ext cx="11548261" cy="2733306"/>
          </a:xfrm>
        </p:spPr>
        <p:txBody>
          <a:bodyPr anchor="b">
            <a:noAutofit/>
          </a:bodyPr>
          <a:lstStyle>
            <a:lvl1pPr algn="ctr">
              <a:defRPr sz="3200" cap="all" spc="300" baseline="0"/>
            </a:lvl1pPr>
          </a:lstStyle>
          <a:p>
            <a:r>
              <a:rPr lang="en-US" dirty="0"/>
              <a:t>Click to add title</a:t>
            </a:r>
          </a:p>
        </p:txBody>
      </p:sp>
      <p:sp>
        <p:nvSpPr>
          <p:cNvPr id="7" name="Subtitle 2">
            <a:extLst>
              <a:ext uri="{FF2B5EF4-FFF2-40B4-BE49-F238E27FC236}">
                <a16:creationId xmlns:a16="http://schemas.microsoft.com/office/drawing/2014/main" id="{5F877C2F-8190-18D9-5D24-5BD7B05A29F8}"/>
              </a:ext>
            </a:extLst>
          </p:cNvPr>
          <p:cNvSpPr>
            <a:spLocks noGrp="1"/>
          </p:cNvSpPr>
          <p:nvPr>
            <p:ph type="subTitle" idx="1" hasCustomPrompt="1"/>
          </p:nvPr>
        </p:nvSpPr>
        <p:spPr>
          <a:xfrm>
            <a:off x="321868" y="3484615"/>
            <a:ext cx="11562303" cy="2387865"/>
          </a:xfrm>
        </p:spPr>
        <p:txBody>
          <a:bodyPr>
            <a:noAutofit/>
          </a:bodyPr>
          <a:lstStyle>
            <a:lvl1pPr marL="0" indent="0" algn="ctr">
              <a:buNone/>
              <a:defRPr sz="60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8686590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64209F-41AB-70E5-1B9E-7490900C59C9}"/>
              </a:ext>
              <a:ext uri="{C183D7F6-B498-43B3-948B-1728B52AA6E4}">
                <adec:decorative xmlns:adec="http://schemas.microsoft.com/office/drawing/2017/decorative" val="1"/>
              </a:ext>
            </a:extLst>
          </p:cNvPr>
          <p:cNvSpPr/>
          <p:nvPr userDrawn="1"/>
        </p:nvSpPr>
        <p:spPr>
          <a:xfrm>
            <a:off x="2" y="1"/>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32D3409-585B-54E2-1DCC-AC58804E4AE7}"/>
              </a:ext>
              <a:ext uri="{C183D7F6-B498-43B3-948B-1728B52AA6E4}">
                <adec:decorative xmlns:adec="http://schemas.microsoft.com/office/drawing/2017/decorative" val="1"/>
              </a:ext>
            </a:extLst>
          </p:cNvPr>
          <p:cNvSpPr/>
          <p:nvPr userDrawn="1"/>
        </p:nvSpPr>
        <p:spPr>
          <a:xfrm>
            <a:off x="1" y="-6350"/>
            <a:ext cx="6096000"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99891" y="511762"/>
            <a:ext cx="4960830" cy="2785158"/>
          </a:xfrm>
        </p:spPr>
        <p:txBody>
          <a:bodyPr anchor="b">
            <a:noAutofit/>
          </a:bodyPr>
          <a:lstStyle>
            <a:lvl1pPr algn="l">
              <a:defRPr sz="2400" cap="all" spc="300" baseline="0"/>
            </a:lvl1pPr>
          </a:lstStyle>
          <a:p>
            <a:r>
              <a:rPr lang="en-US" dirty="0"/>
              <a:t>Click to add title</a:t>
            </a:r>
          </a:p>
        </p:txBody>
      </p:sp>
      <p:sp>
        <p:nvSpPr>
          <p:cNvPr id="8" name="Subtitle 2">
            <a:extLst>
              <a:ext uri="{FF2B5EF4-FFF2-40B4-BE49-F238E27FC236}">
                <a16:creationId xmlns:a16="http://schemas.microsoft.com/office/drawing/2014/main" id="{E47B8A5C-E279-DB0B-E9D3-927417876125}"/>
              </a:ext>
            </a:extLst>
          </p:cNvPr>
          <p:cNvSpPr>
            <a:spLocks noGrp="1"/>
          </p:cNvSpPr>
          <p:nvPr>
            <p:ph type="subTitle" idx="1" hasCustomPrompt="1"/>
          </p:nvPr>
        </p:nvSpPr>
        <p:spPr>
          <a:xfrm>
            <a:off x="802640" y="3484615"/>
            <a:ext cx="4958081" cy="2387865"/>
          </a:xfrm>
        </p:spPr>
        <p:txBody>
          <a:bodyPr>
            <a:noAutofit/>
          </a:bodyPr>
          <a:lstStyle>
            <a:lvl1pPr marL="0" indent="0" algn="l">
              <a:buNone/>
              <a:defRPr sz="32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icture Placeholder 9">
            <a:extLst>
              <a:ext uri="{FF2B5EF4-FFF2-40B4-BE49-F238E27FC236}">
                <a16:creationId xmlns:a16="http://schemas.microsoft.com/office/drawing/2014/main" id="{D386C402-C5C5-2A54-C618-62673AD93CB4}"/>
              </a:ext>
            </a:extLst>
          </p:cNvPr>
          <p:cNvSpPr>
            <a:spLocks noGrp="1"/>
          </p:cNvSpPr>
          <p:nvPr>
            <p:ph type="pic" sz="quarter" idx="13"/>
          </p:nvPr>
        </p:nvSpPr>
        <p:spPr>
          <a:xfrm>
            <a:off x="6497638" y="336550"/>
            <a:ext cx="5322887" cy="6184900"/>
          </a:xfrm>
        </p:spPr>
        <p:txBody>
          <a:bodyPr/>
          <a:lstStyle>
            <a:lvl1pPr algn="ctr">
              <a:defRPr sz="2000"/>
            </a:lvl1pPr>
          </a:lstStyle>
          <a:p>
            <a:r>
              <a:rPr lang="en-US"/>
              <a:t>Click icon to add picture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683218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and 2 column">
    <p:bg>
      <p:bgPr>
        <a:gradFill>
          <a:gsLst>
            <a:gs pos="100000">
              <a:schemeClr val="tx2"/>
            </a:gs>
            <a:gs pos="79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4" name="Content Placeholder 14">
            <a:extLst>
              <a:ext uri="{FF2B5EF4-FFF2-40B4-BE49-F238E27FC236}">
                <a16:creationId xmlns:a16="http://schemas.microsoft.com/office/drawing/2014/main" id="{318CE367-BBCB-F4AB-635F-4C9995EAE3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50"/>
            <a:ext cx="2356339" cy="6853863"/>
          </a:xfrm>
          <a:prstGeom prst="rect">
            <a:avLst/>
          </a:prstGeom>
        </p:spPr>
      </p:pic>
      <p:sp>
        <p:nvSpPr>
          <p:cNvPr id="5" name="Rectangle 4">
            <a:extLst>
              <a:ext uri="{FF2B5EF4-FFF2-40B4-BE49-F238E27FC236}">
                <a16:creationId xmlns:a16="http://schemas.microsoft.com/office/drawing/2014/main" id="{5CE3FBBA-81E2-31F1-EF51-02706B5B5C0A}"/>
              </a:ext>
              <a:ext uri="{C183D7F6-B498-43B3-948B-1728B52AA6E4}">
                <adec:decorative xmlns:adec="http://schemas.microsoft.com/office/drawing/2017/decorative" val="1"/>
              </a:ext>
            </a:extLst>
          </p:cNvPr>
          <p:cNvSpPr/>
          <p:nvPr userDrawn="1"/>
        </p:nvSpPr>
        <p:spPr>
          <a:xfrm>
            <a:off x="2356339" y="-6350"/>
            <a:ext cx="983180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6" name="Straight Connector 5">
            <a:extLst>
              <a:ext uri="{FF2B5EF4-FFF2-40B4-BE49-F238E27FC236}">
                <a16:creationId xmlns:a16="http://schemas.microsoft.com/office/drawing/2014/main" id="{9AD3746D-3CD1-FFA5-0019-AD0C588B1924}"/>
              </a:ext>
              <a:ext uri="{C183D7F6-B498-43B3-948B-1728B52AA6E4}">
                <adec:decorative xmlns:adec="http://schemas.microsoft.com/office/drawing/2017/decorative" val="1"/>
              </a:ext>
            </a:extLst>
          </p:cNvPr>
          <p:cNvCxnSpPr>
            <a:cxnSpLocks/>
          </p:cNvCxnSpPr>
          <p:nvPr userDrawn="1"/>
        </p:nvCxnSpPr>
        <p:spPr>
          <a:xfrm>
            <a:off x="3305669" y="2002443"/>
            <a:ext cx="792211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305669" y="113097"/>
            <a:ext cx="7420819" cy="16563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3" name="Content Placeholder 12">
            <a:extLst>
              <a:ext uri="{FF2B5EF4-FFF2-40B4-BE49-F238E27FC236}">
                <a16:creationId xmlns:a16="http://schemas.microsoft.com/office/drawing/2014/main" id="{B9624CF4-7769-4663-3361-39136F5E20C8}"/>
              </a:ext>
            </a:extLst>
          </p:cNvPr>
          <p:cNvSpPr>
            <a:spLocks noGrp="1"/>
          </p:cNvSpPr>
          <p:nvPr>
            <p:ph sz="quarter" idx="31" hasCustomPrompt="1"/>
          </p:nvPr>
        </p:nvSpPr>
        <p:spPr>
          <a:xfrm>
            <a:off x="3305669" y="2470150"/>
            <a:ext cx="7420819" cy="3676649"/>
          </a:xfrm>
        </p:spPr>
        <p:txBody>
          <a:bodyPr/>
          <a:lstStyle>
            <a:lvl1pPr marL="285750" indent="-285750">
              <a:lnSpc>
                <a:spcPct val="120000"/>
              </a:lnSpc>
              <a:spcBef>
                <a:spcPts val="1000"/>
              </a:spcBef>
              <a:spcAft>
                <a:spcPts val="600"/>
              </a:spcAft>
              <a:buClr>
                <a:schemeClr val="accent3"/>
              </a:buClr>
              <a:buFont typeface="Arial" panose="020B0604020202020204" pitchFamily="34" charset="0"/>
              <a:buChar char="•"/>
              <a:defRPr sz="1800">
                <a:solidFill>
                  <a:schemeClr val="bg1"/>
                </a:solidFill>
                <a:latin typeface="+mn-lt"/>
              </a:defRPr>
            </a:lvl1pPr>
            <a:lvl2pPr marL="800100" indent="-342900">
              <a:lnSpc>
                <a:spcPct val="120000"/>
              </a:lnSpc>
              <a:spcBef>
                <a:spcPts val="1000"/>
              </a:spcBef>
              <a:spcAft>
                <a:spcPts val="600"/>
              </a:spcAft>
              <a:buClr>
                <a:schemeClr val="accent3"/>
              </a:buClr>
              <a:buFont typeface="Arial" panose="020B0604020202020204" pitchFamily="34" charset="0"/>
              <a:buChar char="•"/>
              <a:defRPr sz="1600">
                <a:solidFill>
                  <a:schemeClr val="bg1"/>
                </a:solidFill>
                <a:latin typeface="+mn-lt"/>
              </a:defRPr>
            </a:lvl2pPr>
            <a:lvl3pPr marL="1257300" indent="-342900">
              <a:lnSpc>
                <a:spcPct val="120000"/>
              </a:lnSpc>
              <a:spcBef>
                <a:spcPts val="1000"/>
              </a:spcBef>
              <a:spcAft>
                <a:spcPts val="600"/>
              </a:spcAft>
              <a:buClr>
                <a:schemeClr val="accent3"/>
              </a:buClr>
              <a:buFont typeface="Arial" panose="020B0604020202020204" pitchFamily="34" charset="0"/>
              <a:buChar char="•"/>
              <a:defRPr sz="1400">
                <a:solidFill>
                  <a:schemeClr val="bg1"/>
                </a:solidFill>
                <a:latin typeface="+mn-lt"/>
              </a:defRPr>
            </a:lvl3pPr>
            <a:lvl4pPr marL="16573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4pPr>
            <a:lvl5pPr marL="21145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028026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361F2FA-20C7-5447-C138-CE2CA1867FE7}"/>
              </a:ext>
              <a:ext uri="{C183D7F6-B498-43B3-948B-1728B52AA6E4}">
                <adec:decorative xmlns:adec="http://schemas.microsoft.com/office/drawing/2017/decorative" val="1"/>
              </a:ext>
            </a:extLst>
          </p:cNvPr>
          <p:cNvGrpSpPr/>
          <p:nvPr userDrawn="1"/>
        </p:nvGrpSpPr>
        <p:grpSpPr>
          <a:xfrm>
            <a:off x="3" y="2"/>
            <a:ext cx="12191997" cy="6857998"/>
            <a:chOff x="3" y="2"/>
            <a:chExt cx="12191997" cy="6857998"/>
          </a:xfrm>
        </p:grpSpPr>
        <p:sp>
          <p:nvSpPr>
            <p:cNvPr id="21" name="Rectangle 20">
              <a:extLst>
                <a:ext uri="{FF2B5EF4-FFF2-40B4-BE49-F238E27FC236}">
                  <a16:creationId xmlns:a16="http://schemas.microsoft.com/office/drawing/2014/main" id="{DFEDD626-82E4-71C6-25F1-CDA46B7B3F39}"/>
                </a:ext>
              </a:extLst>
            </p:cNvPr>
            <p:cNvSpPr/>
            <p:nvPr/>
          </p:nvSpPr>
          <p:spPr>
            <a:xfrm>
              <a:off x="3" y="2"/>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DC952AF-CE06-54F7-CB4A-1722F90AC3D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 y="2"/>
              <a:ext cx="12191994" cy="6857996"/>
            </a:xfrm>
            <a:prstGeom prst="rect">
              <a:avLst/>
            </a:prstGeom>
          </p:spPr>
        </p:pic>
        <p:grpSp>
          <p:nvGrpSpPr>
            <p:cNvPr id="11" name="Group 10">
              <a:extLst>
                <a:ext uri="{FF2B5EF4-FFF2-40B4-BE49-F238E27FC236}">
                  <a16:creationId xmlns:a16="http://schemas.microsoft.com/office/drawing/2014/main" id="{6E6EDFF3-843B-AAE9-DB73-423142606F52}"/>
                </a:ext>
              </a:extLst>
            </p:cNvPr>
            <p:cNvGrpSpPr/>
            <p:nvPr/>
          </p:nvGrpSpPr>
          <p:grpSpPr>
            <a:xfrm rot="5400000">
              <a:off x="1645776" y="1222395"/>
              <a:ext cx="431603" cy="412684"/>
              <a:chOff x="1870859" y="869908"/>
              <a:chExt cx="431603" cy="412684"/>
            </a:xfrm>
          </p:grpSpPr>
          <p:sp>
            <p:nvSpPr>
              <p:cNvPr id="12" name="Graphic 15">
                <a:extLst>
                  <a:ext uri="{FF2B5EF4-FFF2-40B4-BE49-F238E27FC236}">
                    <a16:creationId xmlns:a16="http://schemas.microsoft.com/office/drawing/2014/main" id="{312F4F85-6C79-201D-E20D-64CD4728E4C8}"/>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01D71DAD-ECC6-A850-88E4-A4EDCF494A24}"/>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14" name="Group 13">
              <a:extLst>
                <a:ext uri="{FF2B5EF4-FFF2-40B4-BE49-F238E27FC236}">
                  <a16:creationId xmlns:a16="http://schemas.microsoft.com/office/drawing/2014/main" id="{C632CC6D-6024-2368-8EBA-4B7A2D6428BC}"/>
                </a:ext>
              </a:extLst>
            </p:cNvPr>
            <p:cNvGrpSpPr/>
            <p:nvPr/>
          </p:nvGrpSpPr>
          <p:grpSpPr>
            <a:xfrm rot="20626702">
              <a:off x="10248169" y="5448942"/>
              <a:ext cx="431603" cy="412684"/>
              <a:chOff x="1870859" y="869908"/>
              <a:chExt cx="431603" cy="412684"/>
            </a:xfrm>
          </p:grpSpPr>
          <p:sp>
            <p:nvSpPr>
              <p:cNvPr id="6" name="Graphic 15">
                <a:extLst>
                  <a:ext uri="{FF2B5EF4-FFF2-40B4-BE49-F238E27FC236}">
                    <a16:creationId xmlns:a16="http://schemas.microsoft.com/office/drawing/2014/main" id="{B05BE7BE-7D54-A09B-8A67-6B28CF6BB6C0}"/>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7" name="Graphic 12">
                <a:extLst>
                  <a:ext uri="{FF2B5EF4-FFF2-40B4-BE49-F238E27FC236}">
                    <a16:creationId xmlns:a16="http://schemas.microsoft.com/office/drawing/2014/main" id="{258346A9-F75C-6704-EEED-CF7A8A0F8010}"/>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782CC39D-03B1-4933-F236-462B5862EBEC}"/>
              </a:ext>
            </a:extLst>
          </p:cNvPr>
          <p:cNvSpPr>
            <a:spLocks noGrp="1"/>
          </p:cNvSpPr>
          <p:nvPr>
            <p:ph type="title"/>
          </p:nvPr>
        </p:nvSpPr>
        <p:spPr>
          <a:xfrm>
            <a:off x="2932448" y="264160"/>
            <a:ext cx="6327105" cy="3373973"/>
          </a:xfrm>
        </p:spPr>
        <p:txBody>
          <a:bodyPr anchor="b"/>
          <a:lstStyle>
            <a:lvl1pPr algn="ctr">
              <a:defRPr sz="3200" cap="all" spc="600" baseline="0">
                <a:solidFill>
                  <a:schemeClr val="accent3">
                    <a:lumMod val="75000"/>
                  </a:schemeClr>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F711CA51-49DC-62CA-F147-F286B1C9DBD9}"/>
              </a:ext>
            </a:extLst>
          </p:cNvPr>
          <p:cNvSpPr>
            <a:spLocks noGrp="1"/>
          </p:cNvSpPr>
          <p:nvPr>
            <p:ph type="subTitle" idx="1" hasCustomPrompt="1"/>
          </p:nvPr>
        </p:nvSpPr>
        <p:spPr>
          <a:xfrm>
            <a:off x="2932448" y="3962135"/>
            <a:ext cx="6327105" cy="2653771"/>
          </a:xfrm>
        </p:spPr>
        <p:txBody>
          <a:bodyPr>
            <a:noAutofit/>
          </a:bodyPr>
          <a:lstStyle>
            <a:lvl1pPr marL="0" indent="0" algn="ctr">
              <a:buNone/>
              <a:defRPr sz="1800" b="0" i="0" cap="all" spc="300" baseline="0">
                <a:solidFill>
                  <a:schemeClr val="bg1"/>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1183414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ctangle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Picture 5" descr="A blue and purple spiral&#10;&#10;Description automatically generated">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oup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Graphic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8" name="Group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Graphic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0" name="Graphic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cxnSp>
        <p:nvCxnSpPr>
          <p:cNvPr id="14" name="Straight Connector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21" name="Content Placeholder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275828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7247A-846A-F316-B494-69B42CBF34DD}"/>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884B3AF6-983E-0901-0045-6CDF4E93E1BA}"/>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C5B7647-403E-A66E-6CF4-0D3A99AA5154}"/>
              </a:ext>
              <a:ext uri="{C183D7F6-B498-43B3-948B-1728B52AA6E4}">
                <adec:decorative xmlns:adec="http://schemas.microsoft.com/office/drawing/2017/decorative" val="1"/>
              </a:ext>
            </a:extLst>
          </p:cNvPr>
          <p:cNvGrpSpPr/>
          <p:nvPr userDrawn="1"/>
        </p:nvGrpSpPr>
        <p:grpSpPr>
          <a:xfrm rot="10800000" flipH="1">
            <a:off x="10488530" y="4210019"/>
            <a:ext cx="754139" cy="1865729"/>
            <a:chOff x="653351" y="2693558"/>
            <a:chExt cx="754139" cy="1865729"/>
          </a:xfrm>
        </p:grpSpPr>
        <p:sp>
          <p:nvSpPr>
            <p:cNvPr id="10" name="Graphic 15">
              <a:extLst>
                <a:ext uri="{FF2B5EF4-FFF2-40B4-BE49-F238E27FC236}">
                  <a16:creationId xmlns:a16="http://schemas.microsoft.com/office/drawing/2014/main" id="{E48E731E-FEF1-9C59-64B0-9CB6E8853912}"/>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1" name="Graphic 12">
              <a:extLst>
                <a:ext uri="{FF2B5EF4-FFF2-40B4-BE49-F238E27FC236}">
                  <a16:creationId xmlns:a16="http://schemas.microsoft.com/office/drawing/2014/main" id="{AFE83BB3-4D12-8E20-CA93-1834D7F0A43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EB1D810-BC05-6C0E-0DE4-3604EBAADCC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41680" y="430482"/>
            <a:ext cx="10500989"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807038" y="2465539"/>
            <a:ext cx="3774587" cy="3723753"/>
          </a:xfrm>
        </p:spPr>
        <p:txBody>
          <a:bodyPr/>
          <a:lstStyle>
            <a:lvl1pPr marL="342900" indent="-342900">
              <a:lnSpc>
                <a:spcPct val="120000"/>
              </a:lnSpc>
              <a:spcBef>
                <a:spcPts val="1000"/>
              </a:spcBef>
              <a:buClr>
                <a:schemeClr val="accent3">
                  <a:lumMod val="75000"/>
                </a:schemeClr>
              </a:buClr>
              <a:buFont typeface="+mj-lt"/>
              <a:buAutoNum type="arabicPeriod"/>
              <a:defRPr sz="1800" spc="0" baseline="0">
                <a:solidFill>
                  <a:schemeClr val="bg1"/>
                </a:solidFill>
                <a:latin typeface="+mn-lt"/>
              </a:defRPr>
            </a:lvl1pPr>
            <a:lvl2pPr marL="626364" indent="-342900">
              <a:lnSpc>
                <a:spcPct val="120000"/>
              </a:lnSpc>
              <a:spcBef>
                <a:spcPts val="1000"/>
              </a:spcBef>
              <a:buClr>
                <a:schemeClr val="accent3">
                  <a:lumMod val="75000"/>
                </a:schemeClr>
              </a:buClr>
              <a:buFont typeface="+mj-lt"/>
              <a:buAutoNum type="alphaLcPeriod"/>
              <a:defRPr sz="1800" spc="0">
                <a:solidFill>
                  <a:schemeClr val="bg1"/>
                </a:solidFill>
                <a:latin typeface="+mn-lt"/>
              </a:defRPr>
            </a:lvl2pPr>
            <a:lvl3pPr marL="918972" indent="-342900">
              <a:lnSpc>
                <a:spcPct val="120000"/>
              </a:lnSpc>
              <a:spcBef>
                <a:spcPts val="1000"/>
              </a:spcBef>
              <a:buClr>
                <a:schemeClr val="accent3">
                  <a:lumMod val="75000"/>
                </a:schemeClr>
              </a:buClr>
              <a:buFont typeface="+mj-lt"/>
              <a:buAutoNum type="arabicParenR"/>
              <a:defRPr sz="1800" spc="0">
                <a:solidFill>
                  <a:schemeClr val="bg1"/>
                </a:solidFill>
                <a:latin typeface="+mn-lt"/>
              </a:defRPr>
            </a:lvl3pPr>
            <a:lvl4pPr marL="1209294" indent="-342900">
              <a:lnSpc>
                <a:spcPct val="120000"/>
              </a:lnSpc>
              <a:spcBef>
                <a:spcPts val="1000"/>
              </a:spcBef>
              <a:buClr>
                <a:schemeClr val="accent3">
                  <a:lumMod val="75000"/>
                </a:schemeClr>
              </a:buClr>
              <a:buFont typeface="+mj-lt"/>
              <a:buAutoNum type="alphaLcParen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4927600" y="2465539"/>
            <a:ext cx="6315069" cy="3723753"/>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9662227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 column">
    <p:bg>
      <p:bgPr>
        <a:gradFill>
          <a:gsLst>
            <a:gs pos="100000">
              <a:schemeClr val="tx2"/>
            </a:gs>
            <a:gs pos="81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23B0D0-B01D-0BB0-6127-A878BE49D18E}"/>
              </a:ext>
              <a:ext uri="{C183D7F6-B498-43B3-948B-1728B52AA6E4}">
                <adec:decorative xmlns:adec="http://schemas.microsoft.com/office/drawing/2017/decorative" val="1"/>
              </a:ext>
            </a:extLst>
          </p:cNvPr>
          <p:cNvSpPr/>
          <p:nvPr userDrawn="1"/>
        </p:nvSpPr>
        <p:spPr>
          <a:xfrm>
            <a:off x="6039728" y="-6350"/>
            <a:ext cx="6154615"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6889627" y="173736"/>
            <a:ext cx="4352662" cy="220370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Picture Placeholder 9">
            <a:extLst>
              <a:ext uri="{FF2B5EF4-FFF2-40B4-BE49-F238E27FC236}">
                <a16:creationId xmlns:a16="http://schemas.microsoft.com/office/drawing/2014/main" id="{6C363351-4779-B42E-ED7A-C4AF2920BABC}"/>
              </a:ext>
            </a:extLst>
          </p:cNvPr>
          <p:cNvSpPr>
            <a:spLocks noGrp="1"/>
          </p:cNvSpPr>
          <p:nvPr>
            <p:ph type="pic" sz="quarter" idx="37"/>
          </p:nvPr>
        </p:nvSpPr>
        <p:spPr>
          <a:xfrm>
            <a:off x="336550" y="336550"/>
            <a:ext cx="5303640" cy="6184900"/>
          </a:xfrm>
        </p:spPr>
        <p:txBody>
          <a:bodyPr/>
          <a:lstStyle>
            <a:lvl1pPr algn="ctr">
              <a:defRPr sz="2000"/>
            </a:lvl1pPr>
          </a:lstStyle>
          <a:p>
            <a:r>
              <a:rPr lang="en-US"/>
              <a:t>Click icon to add picture</a:t>
            </a:r>
            <a:endParaRPr lang="en-US" dirty="0"/>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6889627" y="3104277"/>
            <a:ext cx="4371560" cy="3022201"/>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cxnSp>
        <p:nvCxnSpPr>
          <p:cNvPr id="4" name="Straight Connector 3">
            <a:extLst>
              <a:ext uri="{FF2B5EF4-FFF2-40B4-BE49-F238E27FC236}">
                <a16:creationId xmlns:a16="http://schemas.microsoft.com/office/drawing/2014/main" id="{F0712911-615E-724B-FC0F-996291526D31}"/>
              </a:ext>
              <a:ext uri="{C183D7F6-B498-43B3-948B-1728B52AA6E4}">
                <adec:decorative xmlns:adec="http://schemas.microsoft.com/office/drawing/2017/decorative" val="1"/>
              </a:ext>
            </a:extLst>
          </p:cNvPr>
          <p:cNvCxnSpPr>
            <a:cxnSpLocks/>
          </p:cNvCxnSpPr>
          <p:nvPr userDrawn="1"/>
        </p:nvCxnSpPr>
        <p:spPr>
          <a:xfrm>
            <a:off x="6889627" y="2679480"/>
            <a:ext cx="4352662"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08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2 column">
    <p:bg>
      <p:bgPr>
        <a:gradFill>
          <a:gsLst>
            <a:gs pos="100000">
              <a:schemeClr val="tx2"/>
            </a:gs>
            <a:gs pos="81000">
              <a:schemeClr val="accent6"/>
            </a:gs>
            <a:gs pos="55000">
              <a:srgbClr val="02090E"/>
            </a:gs>
            <a:gs pos="14000">
              <a:schemeClr val="accent4">
                <a:lumMod val="75000"/>
              </a:schemeClr>
            </a:gs>
            <a:gs pos="0">
              <a:schemeClr val="accent4"/>
            </a:gs>
          </a:gsLst>
          <a:lin ang="27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FFF0E2-6B47-67EB-D6AA-D972E7B7C367}"/>
              </a:ext>
              <a:ext uri="{C183D7F6-B498-43B3-948B-1728B52AA6E4}">
                <adec:decorative xmlns:adec="http://schemas.microsoft.com/office/drawing/2017/decorative" val="1"/>
              </a:ext>
            </a:extLst>
          </p:cNvPr>
          <p:cNvSpPr/>
          <p:nvPr userDrawn="1"/>
        </p:nvSpPr>
        <p:spPr>
          <a:xfrm>
            <a:off x="0" y="-6350"/>
            <a:ext cx="464695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cxnSp>
        <p:nvCxnSpPr>
          <p:cNvPr id="4" name="Straight Connector 3">
            <a:extLst>
              <a:ext uri="{FF2B5EF4-FFF2-40B4-BE49-F238E27FC236}">
                <a16:creationId xmlns:a16="http://schemas.microsoft.com/office/drawing/2014/main" id="{94827F6F-999F-23E9-8C09-325D1A76B07A}"/>
              </a:ext>
              <a:ext uri="{C183D7F6-B498-43B3-948B-1728B52AA6E4}">
                <adec:decorative xmlns:adec="http://schemas.microsoft.com/office/drawing/2017/decorative" val="1"/>
              </a:ext>
            </a:extLst>
          </p:cNvPr>
          <p:cNvCxnSpPr>
            <a:cxnSpLocks/>
          </p:cNvCxnSpPr>
          <p:nvPr userDrawn="1"/>
        </p:nvCxnSpPr>
        <p:spPr>
          <a:xfrm>
            <a:off x="835831" y="2680134"/>
            <a:ext cx="3114078"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171396"/>
            <a:ext cx="3736630" cy="2202350"/>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41716" y="3078480"/>
            <a:ext cx="3108193" cy="3047997"/>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2" name="Table Placeholder 11">
            <a:extLst>
              <a:ext uri="{FF2B5EF4-FFF2-40B4-BE49-F238E27FC236}">
                <a16:creationId xmlns:a16="http://schemas.microsoft.com/office/drawing/2014/main" id="{D360C16C-E69B-FDEF-F033-CA9A2E238288}"/>
              </a:ext>
            </a:extLst>
          </p:cNvPr>
          <p:cNvSpPr>
            <a:spLocks noGrp="1"/>
          </p:cNvSpPr>
          <p:nvPr>
            <p:ph type="tbl" sz="quarter" idx="37"/>
          </p:nvPr>
        </p:nvSpPr>
        <p:spPr>
          <a:xfrm>
            <a:off x="5067300" y="404813"/>
            <a:ext cx="6705600" cy="6048375"/>
          </a:xfrm>
        </p:spPr>
        <p:txBody>
          <a:bodyPr/>
          <a:lstStyle>
            <a:lvl1pPr>
              <a:defRPr sz="2400">
                <a:latin typeface="+mn-lt"/>
              </a:defRPr>
            </a:lvl1pPr>
          </a:lstStyle>
          <a:p>
            <a:r>
              <a:rPr lang="en-US"/>
              <a:t>Click icon to add table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Tree>
    <p:extLst>
      <p:ext uri="{BB962C8B-B14F-4D97-AF65-F5344CB8AC3E}">
        <p14:creationId xmlns:p14="http://schemas.microsoft.com/office/powerpoint/2010/main" val="3907219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96A82D-0723-4BA3-0283-9F0D67B0CEF4}"/>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6A20A5FD-BDFB-45F2-E644-E93FB81CA575}"/>
              </a:ext>
              <a:ext uri="{C183D7F6-B498-43B3-948B-1728B52AA6E4}">
                <adec:decorative xmlns:adec="http://schemas.microsoft.com/office/drawing/2017/decorative" val="1"/>
              </a:ext>
            </a:extLst>
          </p:cNvPr>
          <p:cNvCxnSpPr>
            <a:cxnSpLocks/>
          </p:cNvCxnSpPr>
          <p:nvPr userDrawn="1"/>
        </p:nvCxnSpPr>
        <p:spPr>
          <a:xfrm>
            <a:off x="807039" y="1983416"/>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33562" y="433906"/>
            <a:ext cx="10515601"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14302" y="2465535"/>
            <a:ext cx="7303538" cy="3427265"/>
          </a:xfrm>
        </p:spPr>
        <p:txBody>
          <a:bodyPr/>
          <a:lstStyle>
            <a:lvl1pPr marL="283464" indent="-283464">
              <a:lnSpc>
                <a:spcPct val="120000"/>
              </a:lnSpc>
              <a:spcBef>
                <a:spcPts val="1000"/>
              </a:spcBef>
              <a:buClr>
                <a:schemeClr val="accent3"/>
              </a:buClr>
              <a:buFont typeface="Arial" panose="020B0604020202020204" pitchFamily="34" charset="0"/>
              <a:buChar char="•"/>
              <a:defRPr sz="1800" spc="0" baseline="0">
                <a:solidFill>
                  <a:schemeClr val="bg1"/>
                </a:solidFill>
                <a:latin typeface="+mn-lt"/>
              </a:defRPr>
            </a:lvl1pPr>
            <a:lvl2pPr marL="566928" indent="-283464">
              <a:lnSpc>
                <a:spcPct val="120000"/>
              </a:lnSpc>
              <a:spcBef>
                <a:spcPts val="500"/>
              </a:spcBef>
              <a:buClr>
                <a:schemeClr val="accent3"/>
              </a:buClr>
              <a:defRPr sz="1800" spc="0"/>
            </a:lvl2pPr>
            <a:lvl3pPr marL="859536" indent="-283464">
              <a:lnSpc>
                <a:spcPct val="120000"/>
              </a:lnSpc>
              <a:spcBef>
                <a:spcPts val="500"/>
              </a:spcBef>
              <a:buClr>
                <a:schemeClr val="accent3"/>
              </a:buClr>
              <a:defRPr sz="1800" spc="0"/>
            </a:lvl3pPr>
            <a:lvl4pPr marL="1152144">
              <a:lnSpc>
                <a:spcPct val="120000"/>
              </a:lnSpc>
              <a:spcBef>
                <a:spcPts val="500"/>
              </a:spcBef>
              <a:buClr>
                <a:schemeClr val="accent3"/>
              </a:buCl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0" name="Content Placeholder 9">
            <a:extLst>
              <a:ext uri="{FF2B5EF4-FFF2-40B4-BE49-F238E27FC236}">
                <a16:creationId xmlns:a16="http://schemas.microsoft.com/office/drawing/2014/main" id="{4E7FC75E-AA73-003E-D4E3-B1819886AF9C}"/>
              </a:ext>
            </a:extLst>
          </p:cNvPr>
          <p:cNvSpPr>
            <a:spLocks noGrp="1"/>
          </p:cNvSpPr>
          <p:nvPr>
            <p:ph sz="quarter" idx="37" hasCustomPrompt="1"/>
          </p:nvPr>
        </p:nvSpPr>
        <p:spPr>
          <a:xfrm>
            <a:off x="8392160" y="2465388"/>
            <a:ext cx="2856865" cy="3427412"/>
          </a:xfrm>
        </p:spPr>
        <p:txBody>
          <a:bodyPr/>
          <a:lstStyle>
            <a:lvl1pPr marL="0" indent="0">
              <a:lnSpc>
                <a:spcPct val="120000"/>
              </a:lnSpc>
              <a:spcBef>
                <a:spcPts val="1000"/>
              </a:spcBef>
              <a:buFont typeface="Arial" panose="020B0604020202020204" pitchFamily="34" charset="0"/>
              <a:buNone/>
              <a:defRPr sz="1800">
                <a:solidFill>
                  <a:schemeClr val="bg1"/>
                </a:solidFill>
                <a:latin typeface="+mn-lt"/>
              </a:defRPr>
            </a:lvl1pPr>
            <a:lvl2pPr marL="457200" indent="0">
              <a:lnSpc>
                <a:spcPct val="120000"/>
              </a:lnSpc>
              <a:spcBef>
                <a:spcPts val="1000"/>
              </a:spcBef>
              <a:buNone/>
              <a:defRPr sz="1600">
                <a:solidFill>
                  <a:schemeClr val="bg1"/>
                </a:solidFill>
                <a:latin typeface="+mn-lt"/>
              </a:defRPr>
            </a:lvl2pPr>
            <a:lvl3pPr marL="914400" indent="0">
              <a:lnSpc>
                <a:spcPct val="120000"/>
              </a:lnSpc>
              <a:spcBef>
                <a:spcPts val="1000"/>
              </a:spcBef>
              <a:buNone/>
              <a:defRPr sz="1400">
                <a:solidFill>
                  <a:schemeClr val="bg1"/>
                </a:solidFill>
                <a:latin typeface="+mn-lt"/>
              </a:defRPr>
            </a:lvl3pPr>
            <a:lvl4pPr marL="1371600" indent="0">
              <a:lnSpc>
                <a:spcPct val="120000"/>
              </a:lnSpc>
              <a:spcBef>
                <a:spcPts val="1000"/>
              </a:spcBef>
              <a:buNone/>
              <a:defRPr sz="1200">
                <a:solidFill>
                  <a:schemeClr val="bg1"/>
                </a:solidFill>
                <a:latin typeface="+mn-lt"/>
              </a:defRPr>
            </a:lvl4pPr>
            <a:lvl5pPr marL="1828800" indent="0">
              <a:lnSpc>
                <a:spcPct val="120000"/>
              </a:lnSpc>
              <a:spcBef>
                <a:spcPts val="1000"/>
              </a:spcBef>
              <a:buNone/>
              <a:defRPr sz="12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2456119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D51531-1219-2E4B-DCE7-C6FD9D809F0C}"/>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BEC02E56-87A4-158A-F0B0-DB8E9BE3AE5E}"/>
              </a:ext>
              <a:ext uri="{C183D7F6-B498-43B3-948B-1728B52AA6E4}">
                <adec:decorative xmlns:adec="http://schemas.microsoft.com/office/drawing/2017/decorative" val="1"/>
              </a:ext>
            </a:extLst>
          </p:cNvPr>
          <p:cNvCxnSpPr>
            <a:cxnSpLocks/>
          </p:cNvCxnSpPr>
          <p:nvPr userDrawn="1"/>
        </p:nvCxnSpPr>
        <p:spPr>
          <a:xfrm>
            <a:off x="807039" y="1991547"/>
            <a:ext cx="10546763"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643842"/>
            <a:ext cx="10515601" cy="1140849"/>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Table Placeholder 9">
            <a:extLst>
              <a:ext uri="{FF2B5EF4-FFF2-40B4-BE49-F238E27FC236}">
                <a16:creationId xmlns:a16="http://schemas.microsoft.com/office/drawing/2014/main" id="{471D7DE3-05F5-8052-02FA-6EF9717E15BE}"/>
              </a:ext>
            </a:extLst>
          </p:cNvPr>
          <p:cNvSpPr>
            <a:spLocks noGrp="1"/>
          </p:cNvSpPr>
          <p:nvPr>
            <p:ph type="tbl" sz="quarter" idx="13"/>
          </p:nvPr>
        </p:nvSpPr>
        <p:spPr>
          <a:xfrm>
            <a:off x="835025" y="2560638"/>
            <a:ext cx="10515600" cy="3478212"/>
          </a:xfrm>
        </p:spPr>
        <p:txBody>
          <a:bodyPr/>
          <a:lstStyle>
            <a:lvl1pPr>
              <a:defRPr sz="2400">
                <a:latin typeface="+mn-lt"/>
              </a:defRPr>
            </a:lvl1pPr>
          </a:lstStyle>
          <a:p>
            <a:r>
              <a:rPr lang="en-US"/>
              <a:t>Click icon to add table</a:t>
            </a:r>
            <a:endParaRPr lang="en-US" dirty="0"/>
          </a:p>
        </p:txBody>
      </p:sp>
      <p:cxnSp>
        <p:nvCxnSpPr>
          <p:cNvPr id="8" name="Straight Connector 7">
            <a:extLst>
              <a:ext uri="{FF2B5EF4-FFF2-40B4-BE49-F238E27FC236}">
                <a16:creationId xmlns:a16="http://schemas.microsoft.com/office/drawing/2014/main" id="{6468DE94-FC46-A848-7949-ABFEADADEA16}"/>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454591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89F5C3D-E9E6-75E0-BF7D-799B5CFE5ED0}"/>
              </a:ext>
              <a:ext uri="{C183D7F6-B498-43B3-948B-1728B52AA6E4}">
                <adec:decorative xmlns:adec="http://schemas.microsoft.com/office/drawing/2017/decorative" val="1"/>
              </a:ext>
            </a:extLst>
          </p:cNvPr>
          <p:cNvGrpSpPr/>
          <p:nvPr userDrawn="1"/>
        </p:nvGrpSpPr>
        <p:grpSpPr>
          <a:xfrm>
            <a:off x="4575462" y="4137"/>
            <a:ext cx="7616537" cy="6853863"/>
            <a:chOff x="4575462" y="4137"/>
            <a:chExt cx="7616537" cy="6853863"/>
          </a:xfrm>
        </p:grpSpPr>
        <p:grpSp>
          <p:nvGrpSpPr>
            <p:cNvPr id="16" name="Group 15">
              <a:extLst>
                <a:ext uri="{FF2B5EF4-FFF2-40B4-BE49-F238E27FC236}">
                  <a16:creationId xmlns:a16="http://schemas.microsoft.com/office/drawing/2014/main" id="{CDE1D2C2-40C4-6B80-E8C6-B4CE94C23037}"/>
                </a:ext>
              </a:extLst>
            </p:cNvPr>
            <p:cNvGrpSpPr/>
            <p:nvPr/>
          </p:nvGrpSpPr>
          <p:grpSpPr>
            <a:xfrm>
              <a:off x="4575462" y="691665"/>
              <a:ext cx="364018" cy="857035"/>
              <a:chOff x="468157" y="1144246"/>
              <a:chExt cx="364018" cy="857035"/>
            </a:xfrm>
          </p:grpSpPr>
          <p:sp>
            <p:nvSpPr>
              <p:cNvPr id="27" name="Oval 26">
                <a:extLst>
                  <a:ext uri="{FF2B5EF4-FFF2-40B4-BE49-F238E27FC236}">
                    <a16:creationId xmlns:a16="http://schemas.microsoft.com/office/drawing/2014/main" id="{7C904D88-E1BE-F1FA-D405-F55DA966DA84}"/>
                  </a:ext>
                  <a:ext uri="{C183D7F6-B498-43B3-948B-1728B52AA6E4}">
                    <adec:decorative xmlns:adec="http://schemas.microsoft.com/office/drawing/2017/decorative" val="1"/>
                  </a:ext>
                </a:extLst>
              </p:cNvPr>
              <p:cNvSpPr/>
              <p:nvPr/>
            </p:nvSpPr>
            <p:spPr>
              <a:xfrm>
                <a:off x="705405" y="1144246"/>
                <a:ext cx="126770" cy="126770"/>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8" name="Graphic 12">
                <a:extLst>
                  <a:ext uri="{FF2B5EF4-FFF2-40B4-BE49-F238E27FC236}">
                    <a16:creationId xmlns:a16="http://schemas.microsoft.com/office/drawing/2014/main" id="{1D8F0816-C429-D32E-058B-33405874DFA7}"/>
                  </a:ext>
                  <a:ext uri="{C183D7F6-B498-43B3-948B-1728B52AA6E4}">
                    <adec:decorative xmlns:adec="http://schemas.microsoft.com/office/drawing/2017/decorative" val="1"/>
                  </a:ext>
                </a:extLst>
              </p:cNvPr>
              <p:cNvSpPr/>
              <p:nvPr/>
            </p:nvSpPr>
            <p:spPr>
              <a:xfrm>
                <a:off x="468157" y="1963496"/>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pic>
          <p:nvPicPr>
            <p:cNvPr id="4" name="Content Placeholder 14">
              <a:extLst>
                <a:ext uri="{FF2B5EF4-FFF2-40B4-BE49-F238E27FC236}">
                  <a16:creationId xmlns:a16="http://schemas.microsoft.com/office/drawing/2014/main" id="{14AC0A97-7D79-3DBE-FB53-A9EBFD806E06}"/>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542796" y="4137"/>
              <a:ext cx="5649203" cy="6853863"/>
            </a:xfrm>
            <a:prstGeom prst="rect">
              <a:avLst/>
            </a:prstGeom>
          </p:spPr>
        </p:pic>
      </p:gr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835831" y="173735"/>
            <a:ext cx="4409514" cy="2203704"/>
          </a:xfrm>
        </p:spPr>
        <p:txBody>
          <a:bodyPr anchor="b">
            <a:noAutofit/>
          </a:bodyPr>
          <a:lstStyle>
            <a:lvl1pPr>
              <a:defRPr sz="3200" cap="all" baseline="0">
                <a:solidFill>
                  <a:schemeClr val="accent3"/>
                </a:solidFill>
              </a:defRPr>
            </a:lvl1pPr>
          </a:lstStyle>
          <a:p>
            <a:r>
              <a:rPr lang="en-US" dirty="0"/>
              <a:t>Click to add title</a:t>
            </a:r>
          </a:p>
        </p:txBody>
      </p:sp>
      <p:sp>
        <p:nvSpPr>
          <p:cNvPr id="7" name="Content Placeholder 6">
            <a:extLst>
              <a:ext uri="{FF2B5EF4-FFF2-40B4-BE49-F238E27FC236}">
                <a16:creationId xmlns:a16="http://schemas.microsoft.com/office/drawing/2014/main" id="{0D9D0F3E-69D8-49F3-5D7A-71FDC4E3EEE3}"/>
              </a:ext>
            </a:extLst>
          </p:cNvPr>
          <p:cNvSpPr>
            <a:spLocks noGrp="1"/>
          </p:cNvSpPr>
          <p:nvPr>
            <p:ph sz="quarter" idx="14" hasCustomPrompt="1"/>
          </p:nvPr>
        </p:nvSpPr>
        <p:spPr>
          <a:xfrm>
            <a:off x="831850" y="3079119"/>
            <a:ext cx="4413250" cy="2752725"/>
          </a:xfrm>
        </p:spPr>
        <p:txBody>
          <a:bodyPr/>
          <a:lstStyle>
            <a:lvl1pPr>
              <a:lnSpc>
                <a:spcPct val="120000"/>
              </a:lnSpc>
              <a:spcBef>
                <a:spcPts val="1000"/>
              </a:spcBef>
              <a:defRPr sz="1800">
                <a:solidFill>
                  <a:schemeClr val="bg1"/>
                </a:solidFill>
                <a:latin typeface="+mn-lt"/>
              </a:defRPr>
            </a:lvl1pPr>
            <a:lvl2pPr>
              <a:lnSpc>
                <a:spcPct val="120000"/>
              </a:lnSpc>
              <a:spcBef>
                <a:spcPts val="1000"/>
              </a:spcBef>
              <a:buClr>
                <a:schemeClr val="accent3"/>
              </a:buClr>
              <a:defRPr sz="1600">
                <a:solidFill>
                  <a:schemeClr val="bg1"/>
                </a:solidFill>
                <a:latin typeface="+mn-lt"/>
              </a:defRPr>
            </a:lvl2pPr>
            <a:lvl3pPr>
              <a:lnSpc>
                <a:spcPct val="120000"/>
              </a:lnSpc>
              <a:spcBef>
                <a:spcPts val="1000"/>
              </a:spcBef>
              <a:buClr>
                <a:schemeClr val="accent3"/>
              </a:buClr>
              <a:defRPr sz="1400">
                <a:solidFill>
                  <a:schemeClr val="bg1"/>
                </a:solidFill>
                <a:latin typeface="+mn-lt"/>
              </a:defRPr>
            </a:lvl3pPr>
            <a:lvl4pPr>
              <a:lnSpc>
                <a:spcPct val="120000"/>
              </a:lnSpc>
              <a:spcBef>
                <a:spcPts val="1000"/>
              </a:spcBef>
              <a:buClr>
                <a:schemeClr val="accent3"/>
              </a:buClr>
              <a:defRPr sz="1200">
                <a:solidFill>
                  <a:schemeClr val="bg1"/>
                </a:solidFill>
                <a:latin typeface="+mn-lt"/>
              </a:defRPr>
            </a:lvl4pPr>
            <a:lvl5pPr>
              <a:lnSpc>
                <a:spcPct val="120000"/>
              </a:lnSpc>
              <a:spcBef>
                <a:spcPts val="1000"/>
              </a:spcBef>
              <a:buClr>
                <a:schemeClr val="accent3"/>
              </a:buCl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61CFC792-44F7-2497-E19D-8FB08AFF94F7}"/>
              </a:ext>
              <a:ext uri="{C183D7F6-B498-43B3-948B-1728B52AA6E4}">
                <adec:decorative xmlns:adec="http://schemas.microsoft.com/office/drawing/2017/decorative" val="1"/>
              </a:ext>
            </a:extLst>
          </p:cNvPr>
          <p:cNvCxnSpPr>
            <a:cxnSpLocks/>
          </p:cNvCxnSpPr>
          <p:nvPr userDrawn="1"/>
        </p:nvCxnSpPr>
        <p:spPr>
          <a:xfrm>
            <a:off x="835831" y="2679192"/>
            <a:ext cx="4101929"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8260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1"/>
            </a:gs>
            <a:gs pos="99000">
              <a:srgbClr val="05202E"/>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EA418-19D1-0D4D-BE52-40A86E32F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2BAE0C-5187-A64D-A481-E69245670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9759C05-48F5-9346-8256-5B61C6990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bg1"/>
                </a:solidFill>
                <a:latin typeface="+mj-lt"/>
                <a:cs typeface="Biome" panose="020B0503030204020804" pitchFamily="34" charset="0"/>
              </a:defRPr>
            </a:lvl1pPr>
          </a:lstStyle>
          <a:p>
            <a:endParaRPr lang="en-US" dirty="0"/>
          </a:p>
        </p:txBody>
      </p:sp>
      <p:sp>
        <p:nvSpPr>
          <p:cNvPr id="5" name="Footer Placeholder 4">
            <a:extLst>
              <a:ext uri="{FF2B5EF4-FFF2-40B4-BE49-F238E27FC236}">
                <a16:creationId xmlns:a16="http://schemas.microsoft.com/office/drawing/2014/main" id="{84175D63-7351-9C4A-AEE0-10E27B3B64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bg1"/>
                </a:solidFill>
                <a:latin typeface="+mj-lt"/>
                <a:cs typeface="Biome" panose="020B05030302040208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7350889F-2BBA-5F45-95BC-BEA668816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noAutofit/>
          </a:bodyPr>
          <a:lstStyle>
            <a:lvl1pPr algn="r">
              <a:defRPr sz="1200">
                <a:solidFill>
                  <a:schemeClr val="bg1"/>
                </a:solidFill>
                <a:latin typeface="+mj-lt"/>
                <a:cs typeface="Biome" panose="020B0503030204020804" pitchFamily="34" charset="0"/>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955693199"/>
      </p:ext>
    </p:extLst>
  </p:cSld>
  <p:clrMap bg1="lt1" tx1="dk1" bg2="lt2" tx2="dk2" accent1="accent1" accent2="accent2" accent3="accent3" accent4="accent4" accent5="accent5" accent6="accent6" hlink="hlink" folHlink="folHlink"/>
  <p:sldLayoutIdLst>
    <p:sldLayoutId id="2147483657" r:id="rId1"/>
    <p:sldLayoutId id="2147483679" r:id="rId2"/>
    <p:sldLayoutId id="2147483669" r:id="rId3"/>
    <p:sldLayoutId id="2147483672" r:id="rId4"/>
    <p:sldLayoutId id="2147483673" r:id="rId5"/>
    <p:sldLayoutId id="2147483674" r:id="rId6"/>
    <p:sldLayoutId id="2147483671" r:id="rId7"/>
    <p:sldLayoutId id="2147483675" r:id="rId8"/>
    <p:sldLayoutId id="2147483676" r:id="rId9"/>
    <p:sldLayoutId id="2147483670" r:id="rId10"/>
    <p:sldLayoutId id="2147483677" r:id="rId11"/>
    <p:sldLayoutId id="2147483678" r:id="rId12"/>
    <p:sldLayoutId id="2147483664" r:id="rId13"/>
    <p:sldLayoutId id="2147483663" r:id="rId14"/>
  </p:sldLayoutIdLst>
  <p:hf hdr="0" ftr="0" dt="0"/>
  <p:txStyles>
    <p:titleStyle>
      <a:lvl1pPr algn="l" defTabSz="914400" rtl="0" eaLnBrk="1" latinLnBrk="0" hangingPunct="1">
        <a:lnSpc>
          <a:spcPct val="90000"/>
        </a:lnSpc>
        <a:spcBef>
          <a:spcPct val="0"/>
        </a:spcBef>
        <a:buNone/>
        <a:defRPr sz="4400" kern="1200" spc="300" baseline="0">
          <a:solidFill>
            <a:schemeClr val="bg1"/>
          </a:solidFill>
          <a:latin typeface="+mj-lt"/>
          <a:ea typeface="+mj-ea"/>
          <a:cs typeface="Biome" panose="020B05030302040208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4.png"/><Relationship Id="rId7" Type="http://schemas.openxmlformats.org/officeDocument/2006/relationships/diagramColors" Target="../diagrams/colors1.xml"/><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kubernetes.io/docs/home/" TargetMode="External"/><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97874EA-2F67-60CD-631F-5A787057F8CE}"/>
              </a:ext>
            </a:extLst>
          </p:cNvPr>
          <p:cNvSpPr>
            <a:spLocks noGrp="1"/>
          </p:cNvSpPr>
          <p:nvPr>
            <p:ph type="title"/>
          </p:nvPr>
        </p:nvSpPr>
        <p:spPr>
          <a:xfrm>
            <a:off x="0" y="304799"/>
            <a:ext cx="12191998" cy="3215641"/>
          </a:xfrm>
        </p:spPr>
        <p:txBody>
          <a:bodyPr anchor="b"/>
          <a:lstStyle/>
          <a:p>
            <a:r>
              <a:rPr lang="en-US" dirty="0"/>
              <a:t>Kubernetes essentials</a:t>
            </a:r>
          </a:p>
        </p:txBody>
      </p:sp>
      <p:sp>
        <p:nvSpPr>
          <p:cNvPr id="9" name="Subtitle 3">
            <a:extLst>
              <a:ext uri="{FF2B5EF4-FFF2-40B4-BE49-F238E27FC236}">
                <a16:creationId xmlns:a16="http://schemas.microsoft.com/office/drawing/2014/main" id="{2981AB9E-AF0F-CAD0-2DD2-D640FB871E66}"/>
              </a:ext>
            </a:extLst>
          </p:cNvPr>
          <p:cNvSpPr>
            <a:spLocks noGrp="1"/>
          </p:cNvSpPr>
          <p:nvPr>
            <p:ph type="subTitle" idx="1"/>
          </p:nvPr>
        </p:nvSpPr>
        <p:spPr>
          <a:xfrm>
            <a:off x="2656276" y="5946130"/>
            <a:ext cx="6579164" cy="302269"/>
          </a:xfrm>
        </p:spPr>
        <p:txBody>
          <a:bodyPr/>
          <a:lstStyle/>
          <a:p>
            <a:pPr algn="l"/>
            <a:r>
              <a:rPr lang="en-US" sz="1100" spc="0" dirty="0"/>
              <a:t>Robert danciu &amp; robert </a:t>
            </a:r>
            <a:r>
              <a:rPr lang="en-US" sz="1100" spc="0" dirty="0" err="1"/>
              <a:t>balint</a:t>
            </a:r>
            <a:r>
              <a:rPr lang="en-US" sz="1100" spc="0" dirty="0"/>
              <a:t>                                                                                                        Nov 19</a:t>
            </a:r>
            <a:r>
              <a:rPr lang="en-US" sz="1100" spc="0" baseline="30000" dirty="0"/>
              <a:t>th</a:t>
            </a:r>
            <a:endParaRPr lang="en-US" sz="1100" spc="0" dirty="0"/>
          </a:p>
        </p:txBody>
      </p:sp>
      <p:pic>
        <p:nvPicPr>
          <p:cNvPr id="5" name="Picture 4" descr="A blue hexagon with a black background and a black text&#10;&#10;AI-generated content may be incorrect.">
            <a:extLst>
              <a:ext uri="{FF2B5EF4-FFF2-40B4-BE49-F238E27FC236}">
                <a16:creationId xmlns:a16="http://schemas.microsoft.com/office/drawing/2014/main" id="{BF470BD8-11EF-0892-53B3-DC66D5784D7B}"/>
              </a:ext>
            </a:extLst>
          </p:cNvPr>
          <p:cNvPicPr>
            <a:picLocks noChangeAspect="1"/>
          </p:cNvPicPr>
          <p:nvPr/>
        </p:nvPicPr>
        <p:blipFill>
          <a:blip r:embed="rId3"/>
          <a:stretch>
            <a:fillRect/>
          </a:stretch>
        </p:blipFill>
        <p:spPr>
          <a:xfrm>
            <a:off x="3" y="5238750"/>
            <a:ext cx="1862485" cy="1619250"/>
          </a:xfrm>
          <a:prstGeom prst="rect">
            <a:avLst/>
          </a:prstGeom>
        </p:spPr>
      </p:pic>
      <p:cxnSp>
        <p:nvCxnSpPr>
          <p:cNvPr id="7" name="Straight Connector 6">
            <a:extLst>
              <a:ext uri="{FF2B5EF4-FFF2-40B4-BE49-F238E27FC236}">
                <a16:creationId xmlns:a16="http://schemas.microsoft.com/office/drawing/2014/main" id="{4197DBB3-C318-8971-5EEF-B18FFCFA854A}"/>
              </a:ext>
            </a:extLst>
          </p:cNvPr>
          <p:cNvCxnSpPr>
            <a:cxnSpLocks/>
          </p:cNvCxnSpPr>
          <p:nvPr/>
        </p:nvCxnSpPr>
        <p:spPr>
          <a:xfrm>
            <a:off x="2656276" y="5946131"/>
            <a:ext cx="657916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031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2458FF-0D0C-4ACC-C6FB-103BC0BADCCD}"/>
              </a:ext>
            </a:extLst>
          </p:cNvPr>
          <p:cNvSpPr>
            <a:spLocks noGrp="1"/>
          </p:cNvSpPr>
          <p:nvPr>
            <p:ph type="title"/>
          </p:nvPr>
        </p:nvSpPr>
        <p:spPr>
          <a:xfrm>
            <a:off x="2399620" y="162560"/>
            <a:ext cx="8843050" cy="1616904"/>
          </a:xfrm>
        </p:spPr>
        <p:txBody>
          <a:bodyPr anchor="b">
            <a:normAutofit/>
          </a:bodyPr>
          <a:lstStyle/>
          <a:p>
            <a:r>
              <a:rPr lang="en-US" dirty="0"/>
              <a:t>Agenda</a:t>
            </a:r>
          </a:p>
        </p:txBody>
      </p:sp>
      <p:sp>
        <p:nvSpPr>
          <p:cNvPr id="31" name="Text Placeholder 3">
            <a:extLst>
              <a:ext uri="{FF2B5EF4-FFF2-40B4-BE49-F238E27FC236}">
                <a16:creationId xmlns:a16="http://schemas.microsoft.com/office/drawing/2014/main" id="{F1239C0E-3F39-787D-0FC3-6B7C9BA37E8F}"/>
              </a:ext>
            </a:extLst>
          </p:cNvPr>
          <p:cNvSpPr>
            <a:spLocks noGrp="1"/>
          </p:cNvSpPr>
          <p:nvPr>
            <p:ph sz="quarter" idx="35"/>
          </p:nvPr>
        </p:nvSpPr>
        <p:spPr>
          <a:xfrm>
            <a:off x="2373002" y="2474811"/>
            <a:ext cx="4015098" cy="3528397"/>
          </a:xfrm>
        </p:spPr>
        <p:txBody>
          <a:bodyPr>
            <a:normAutofit/>
          </a:bodyPr>
          <a:lstStyle/>
          <a:p>
            <a:pPr marL="285750" indent="-285750">
              <a:lnSpc>
                <a:spcPct val="110000"/>
              </a:lnSpc>
              <a:buFont typeface="Arial" panose="020B0604020202020204" pitchFamily="34" charset="0"/>
              <a:buChar char="•"/>
            </a:pPr>
            <a:r>
              <a:rPr lang="en-US" sz="1500"/>
              <a:t>Introduction</a:t>
            </a:r>
          </a:p>
          <a:p>
            <a:pPr marL="285750" indent="-285750">
              <a:lnSpc>
                <a:spcPct val="110000"/>
              </a:lnSpc>
              <a:buFont typeface="Arial" panose="020B0604020202020204" pitchFamily="34" charset="0"/>
              <a:buChar char="•"/>
            </a:pPr>
            <a:r>
              <a:rPr lang="en-US" sz="1500"/>
              <a:t>Background and origins</a:t>
            </a:r>
          </a:p>
          <a:p>
            <a:pPr marL="285750" indent="-285750">
              <a:lnSpc>
                <a:spcPct val="110000"/>
              </a:lnSpc>
              <a:buFont typeface="Arial" panose="020B0604020202020204" pitchFamily="34" charset="0"/>
              <a:buChar char="•"/>
            </a:pPr>
            <a:r>
              <a:rPr lang="en-US" sz="1500"/>
              <a:t>Why is it still relevant?</a:t>
            </a:r>
          </a:p>
          <a:p>
            <a:pPr marL="285750" indent="-285750">
              <a:lnSpc>
                <a:spcPct val="110000"/>
              </a:lnSpc>
              <a:buFont typeface="Arial" panose="020B0604020202020204" pitchFamily="34" charset="0"/>
              <a:buChar char="•"/>
            </a:pPr>
            <a:r>
              <a:rPr lang="en-US" sz="1500"/>
              <a:t>Comparison with alternatives</a:t>
            </a:r>
          </a:p>
          <a:p>
            <a:pPr marL="285750" indent="-285750">
              <a:lnSpc>
                <a:spcPct val="110000"/>
              </a:lnSpc>
              <a:buFont typeface="Arial" panose="020B0604020202020204" pitchFamily="34" charset="0"/>
              <a:buChar char="•"/>
            </a:pPr>
            <a:r>
              <a:rPr lang="en-US" sz="1500"/>
              <a:t>Core concepts &amp; architecture</a:t>
            </a:r>
          </a:p>
          <a:p>
            <a:pPr marL="285750" indent="-285750">
              <a:lnSpc>
                <a:spcPct val="110000"/>
              </a:lnSpc>
              <a:buFont typeface="Arial" panose="020B0604020202020204" pitchFamily="34" charset="0"/>
              <a:buChar char="•"/>
            </a:pPr>
            <a:r>
              <a:rPr lang="en-US" sz="1500"/>
              <a:t>Kubernetes in action</a:t>
            </a:r>
          </a:p>
          <a:p>
            <a:pPr marL="285750" indent="-285750">
              <a:lnSpc>
                <a:spcPct val="110000"/>
              </a:lnSpc>
              <a:buFont typeface="Arial" panose="020B0604020202020204" pitchFamily="34" charset="0"/>
              <a:buChar char="•"/>
            </a:pPr>
            <a:r>
              <a:rPr lang="en-US" sz="1500"/>
              <a:t>Getting started</a:t>
            </a:r>
          </a:p>
          <a:p>
            <a:pPr marL="285750" indent="-285750">
              <a:lnSpc>
                <a:spcPct val="110000"/>
              </a:lnSpc>
              <a:buFont typeface="Arial" panose="020B0604020202020204" pitchFamily="34" charset="0"/>
              <a:buChar char="•"/>
            </a:pPr>
            <a:r>
              <a:rPr lang="en-US" sz="1500"/>
              <a:t>When (and when not) to use it</a:t>
            </a:r>
          </a:p>
          <a:p>
            <a:pPr marL="285750" indent="-285750">
              <a:lnSpc>
                <a:spcPct val="110000"/>
              </a:lnSpc>
              <a:buFont typeface="Arial" panose="020B0604020202020204" pitchFamily="34" charset="0"/>
              <a:buChar char="•"/>
            </a:pPr>
            <a:r>
              <a:rPr lang="en-US" sz="1500"/>
              <a:t>Resources &amp; next steps</a:t>
            </a:r>
          </a:p>
        </p:txBody>
      </p:sp>
      <p:pic>
        <p:nvPicPr>
          <p:cNvPr id="6" name="Picture 5" descr="A blue hexagon with a black background and a black text&#10;&#10;AI-generated content may be incorrect.">
            <a:extLst>
              <a:ext uri="{FF2B5EF4-FFF2-40B4-BE49-F238E27FC236}">
                <a16:creationId xmlns:a16="http://schemas.microsoft.com/office/drawing/2014/main" id="{826D5059-D4B5-5AF9-FDCE-B5E6ABBEAF58}"/>
              </a:ext>
            </a:extLst>
          </p:cNvPr>
          <p:cNvPicPr>
            <a:picLocks noChangeAspect="1"/>
          </p:cNvPicPr>
          <p:nvPr/>
        </p:nvPicPr>
        <p:blipFill>
          <a:blip r:embed="rId3"/>
          <a:srcRect r="-3" b="4059"/>
          <a:stretch>
            <a:fillRect/>
          </a:stretch>
        </p:blipFill>
        <p:spPr>
          <a:xfrm>
            <a:off x="7727941" y="2587306"/>
            <a:ext cx="3282316" cy="2739627"/>
          </a:xfrm>
          <a:prstGeom prst="rect">
            <a:avLst/>
          </a:prstGeom>
          <a:noFill/>
        </p:spPr>
      </p:pic>
      <p:sp>
        <p:nvSpPr>
          <p:cNvPr id="36" name="Slide Number Placeholder 4">
            <a:extLst>
              <a:ext uri="{FF2B5EF4-FFF2-40B4-BE49-F238E27FC236}">
                <a16:creationId xmlns:a16="http://schemas.microsoft.com/office/drawing/2014/main" id="{2D327101-55AF-DA5D-F42F-F6F2168A14F6}"/>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2</a:t>
            </a:fld>
            <a:endParaRPr lang="en-US"/>
          </a:p>
        </p:txBody>
      </p:sp>
    </p:spTree>
    <p:extLst>
      <p:ext uri="{BB962C8B-B14F-4D97-AF65-F5344CB8AC3E}">
        <p14:creationId xmlns:p14="http://schemas.microsoft.com/office/powerpoint/2010/main" val="1460159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7F7C5-CBA2-9823-0CBA-5BD773998046}"/>
              </a:ext>
            </a:extLst>
          </p:cNvPr>
          <p:cNvSpPr>
            <a:spLocks noGrp="1"/>
          </p:cNvSpPr>
          <p:nvPr>
            <p:ph type="title"/>
          </p:nvPr>
        </p:nvSpPr>
        <p:spPr>
          <a:xfrm>
            <a:off x="733562" y="433906"/>
            <a:ext cx="10515601" cy="1327464"/>
          </a:xfrm>
        </p:spPr>
        <p:txBody>
          <a:bodyPr anchor="b">
            <a:normAutofit/>
          </a:bodyPr>
          <a:lstStyle/>
          <a:p>
            <a:r>
              <a:rPr lang="en-US" dirty="0"/>
              <a:t>Why Kubernetes?</a:t>
            </a:r>
          </a:p>
        </p:txBody>
      </p:sp>
      <p:sp>
        <p:nvSpPr>
          <p:cNvPr id="4" name="Subtitle 3">
            <a:extLst>
              <a:ext uri="{FF2B5EF4-FFF2-40B4-BE49-F238E27FC236}">
                <a16:creationId xmlns:a16="http://schemas.microsoft.com/office/drawing/2014/main" id="{260D053B-A40A-3228-B6D5-3371B9EE2E56}"/>
              </a:ext>
            </a:extLst>
          </p:cNvPr>
          <p:cNvSpPr>
            <a:spLocks noGrp="1"/>
          </p:cNvSpPr>
          <p:nvPr>
            <p:ph sz="quarter" idx="36"/>
          </p:nvPr>
        </p:nvSpPr>
        <p:spPr>
          <a:xfrm>
            <a:off x="814302" y="2465535"/>
            <a:ext cx="7303538" cy="3427265"/>
          </a:xfrm>
        </p:spPr>
        <p:txBody>
          <a:bodyPr>
            <a:normAutofit/>
          </a:bodyPr>
          <a:lstStyle/>
          <a:p>
            <a:pPr marL="285750" indent="-285750">
              <a:buFont typeface="Arial" panose="020B0604020202020204" pitchFamily="34" charset="0"/>
              <a:buChar char="•"/>
            </a:pPr>
            <a:r>
              <a:rPr lang="en-US" dirty="0"/>
              <a:t>Containers offer portability, isolation, and efficiency</a:t>
            </a:r>
          </a:p>
          <a:p>
            <a:pPr marL="285750" indent="-285750">
              <a:buFont typeface="Arial" panose="020B0604020202020204" pitchFamily="34" charset="0"/>
              <a:buChar char="•"/>
            </a:pPr>
            <a:r>
              <a:rPr lang="en-US" dirty="0"/>
              <a:t>Growing container adoption requires orchestration</a:t>
            </a:r>
          </a:p>
          <a:p>
            <a:pPr marL="285750" indent="-285750">
              <a:buFont typeface="Arial" panose="020B0604020202020204" pitchFamily="34" charset="0"/>
              <a:buChar char="•"/>
            </a:pPr>
            <a:r>
              <a:rPr lang="en-US" dirty="0"/>
              <a:t>Kubernetes automates deployment, scaling, and management</a:t>
            </a:r>
          </a:p>
          <a:p>
            <a:pPr marL="285750" indent="-285750">
              <a:buFont typeface="Arial" panose="020B0604020202020204" pitchFamily="34" charset="0"/>
              <a:buChar char="•"/>
            </a:pPr>
            <a:r>
              <a:rPr lang="en-US" dirty="0"/>
              <a:t>Declarative model ensures desired state is maintained</a:t>
            </a:r>
          </a:p>
        </p:txBody>
      </p:sp>
      <p:pic>
        <p:nvPicPr>
          <p:cNvPr id="5" name="Picture 4" descr="A blue hexagon with a white wheel and a blue city with buildings&#10;&#10;AI-generated content may be incorrect.">
            <a:extLst>
              <a:ext uri="{FF2B5EF4-FFF2-40B4-BE49-F238E27FC236}">
                <a16:creationId xmlns:a16="http://schemas.microsoft.com/office/drawing/2014/main" id="{29089912-D929-4ADC-FB8B-EAC6A1B4DFC7}"/>
              </a:ext>
            </a:extLst>
          </p:cNvPr>
          <p:cNvPicPr>
            <a:picLocks noChangeAspect="1"/>
          </p:cNvPicPr>
          <p:nvPr/>
        </p:nvPicPr>
        <p:blipFill>
          <a:blip r:embed="rId3"/>
          <a:stretch>
            <a:fillRect/>
          </a:stretch>
        </p:blipFill>
        <p:spPr>
          <a:xfrm>
            <a:off x="7343776" y="3254184"/>
            <a:ext cx="3905250" cy="2528648"/>
          </a:xfrm>
          <a:prstGeom prst="rect">
            <a:avLst/>
          </a:prstGeom>
          <a:noFill/>
        </p:spPr>
      </p:pic>
      <p:sp>
        <p:nvSpPr>
          <p:cNvPr id="3" name="Slide Number Placeholder 2">
            <a:extLst>
              <a:ext uri="{FF2B5EF4-FFF2-40B4-BE49-F238E27FC236}">
                <a16:creationId xmlns:a16="http://schemas.microsoft.com/office/drawing/2014/main" id="{A6A971A9-0C5C-DDFC-67F9-2E5A55F12F67}"/>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3</a:t>
            </a:fld>
            <a:endParaRPr lang="en-US"/>
          </a:p>
        </p:txBody>
      </p:sp>
    </p:spTree>
    <p:extLst>
      <p:ext uri="{BB962C8B-B14F-4D97-AF65-F5344CB8AC3E}">
        <p14:creationId xmlns:p14="http://schemas.microsoft.com/office/powerpoint/2010/main" val="1397193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EFE388-CD0B-9671-4D4E-D6D8004C8851}"/>
              </a:ext>
            </a:extLst>
          </p:cNvPr>
          <p:cNvSpPr>
            <a:spLocks noGrp="1"/>
          </p:cNvSpPr>
          <p:nvPr>
            <p:ph type="title"/>
          </p:nvPr>
        </p:nvSpPr>
        <p:spPr>
          <a:xfrm>
            <a:off x="741680" y="430482"/>
            <a:ext cx="10500989" cy="1327464"/>
          </a:xfrm>
        </p:spPr>
        <p:txBody>
          <a:bodyPr anchor="b">
            <a:normAutofit/>
          </a:bodyPr>
          <a:lstStyle/>
          <a:p>
            <a:r>
              <a:rPr lang="en-US" dirty="0"/>
              <a:t>Origins of </a:t>
            </a:r>
            <a:r>
              <a:rPr lang="en-US" dirty="0" err="1"/>
              <a:t>kubernetes</a:t>
            </a:r>
            <a:r>
              <a:rPr lang="en-US" dirty="0"/>
              <a:t> </a:t>
            </a:r>
          </a:p>
        </p:txBody>
      </p:sp>
      <p:sp>
        <p:nvSpPr>
          <p:cNvPr id="5" name="Subtitle 4">
            <a:extLst>
              <a:ext uri="{FF2B5EF4-FFF2-40B4-BE49-F238E27FC236}">
                <a16:creationId xmlns:a16="http://schemas.microsoft.com/office/drawing/2014/main" id="{BE4E0F37-0AD5-833C-CBE5-EAE02EC46069}"/>
              </a:ext>
            </a:extLst>
          </p:cNvPr>
          <p:cNvSpPr>
            <a:spLocks noGrp="1"/>
          </p:cNvSpPr>
          <p:nvPr>
            <p:ph sz="quarter" idx="35"/>
          </p:nvPr>
        </p:nvSpPr>
        <p:spPr>
          <a:xfrm>
            <a:off x="807038" y="2465539"/>
            <a:ext cx="3774587" cy="3723753"/>
          </a:xfrm>
        </p:spPr>
        <p:txBody>
          <a:bodyPr>
            <a:normAutofit/>
          </a:bodyPr>
          <a:lstStyle/>
          <a:p>
            <a:pPr marL="285750" indent="-285750">
              <a:buFont typeface="Arial" panose="020B0604020202020204" pitchFamily="34" charset="0"/>
              <a:buChar char="•"/>
            </a:pPr>
            <a:r>
              <a:rPr lang="en-US" dirty="0"/>
              <a:t>Developed at Google (2013), inspired by Borg and Omega</a:t>
            </a:r>
          </a:p>
          <a:p>
            <a:pPr marL="285750" indent="-285750">
              <a:buFont typeface="Arial" panose="020B0604020202020204" pitchFamily="34" charset="0"/>
              <a:buChar char="•"/>
            </a:pPr>
            <a:r>
              <a:rPr lang="en-US" dirty="0"/>
              <a:t>Open-sourced and donated to CNCF in 2015</a:t>
            </a:r>
          </a:p>
          <a:p>
            <a:pPr marL="285750" indent="-285750">
              <a:buFont typeface="Arial" panose="020B0604020202020204" pitchFamily="34" charset="0"/>
              <a:buChar char="•"/>
            </a:pPr>
            <a:r>
              <a:rPr lang="en-US" dirty="0"/>
              <a:t>Designed for on-premises, hybrid and cloud environments</a:t>
            </a:r>
          </a:p>
        </p:txBody>
      </p:sp>
      <p:pic>
        <p:nvPicPr>
          <p:cNvPr id="9" name="Picture 8">
            <a:extLst>
              <a:ext uri="{FF2B5EF4-FFF2-40B4-BE49-F238E27FC236}">
                <a16:creationId xmlns:a16="http://schemas.microsoft.com/office/drawing/2014/main" id="{DD929FAA-0AD2-0FF4-BC27-6E87552E6233}"/>
              </a:ext>
            </a:extLst>
          </p:cNvPr>
          <p:cNvPicPr>
            <a:picLocks noChangeAspect="1"/>
          </p:cNvPicPr>
          <p:nvPr/>
        </p:nvPicPr>
        <p:blipFill>
          <a:blip r:embed="rId3"/>
          <a:stretch>
            <a:fillRect/>
          </a:stretch>
        </p:blipFill>
        <p:spPr>
          <a:xfrm>
            <a:off x="4927600" y="2551303"/>
            <a:ext cx="6315069" cy="3552225"/>
          </a:xfrm>
          <a:prstGeom prst="rect">
            <a:avLst/>
          </a:prstGeom>
          <a:noFill/>
        </p:spPr>
      </p:pic>
      <p:sp>
        <p:nvSpPr>
          <p:cNvPr id="4" name="Slide Number Placeholder 3">
            <a:extLst>
              <a:ext uri="{FF2B5EF4-FFF2-40B4-BE49-F238E27FC236}">
                <a16:creationId xmlns:a16="http://schemas.microsoft.com/office/drawing/2014/main" id="{67D6EA54-3083-FB0D-9011-2353791B0495}"/>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4</a:t>
            </a:fld>
            <a:endParaRPr lang="en-US"/>
          </a:p>
        </p:txBody>
      </p:sp>
      <p:sp>
        <p:nvSpPr>
          <p:cNvPr id="10" name="TextBox 9">
            <a:extLst>
              <a:ext uri="{FF2B5EF4-FFF2-40B4-BE49-F238E27FC236}">
                <a16:creationId xmlns:a16="http://schemas.microsoft.com/office/drawing/2014/main" id="{14825735-4701-745D-BE9D-1891CB550AC6}"/>
              </a:ext>
            </a:extLst>
          </p:cNvPr>
          <p:cNvSpPr txBox="1"/>
          <p:nvPr/>
        </p:nvSpPr>
        <p:spPr>
          <a:xfrm>
            <a:off x="7151224" y="5697379"/>
            <a:ext cx="1784463" cy="246221"/>
          </a:xfrm>
          <a:prstGeom prst="rect">
            <a:avLst/>
          </a:prstGeom>
          <a:noFill/>
        </p:spPr>
        <p:txBody>
          <a:bodyPr wrap="none" rtlCol="0">
            <a:spAutoFit/>
          </a:bodyPr>
          <a:lstStyle/>
          <a:p>
            <a:r>
              <a:rPr lang="en-US" sz="1000" i="1" dirty="0">
                <a:solidFill>
                  <a:schemeClr val="bg1"/>
                </a:solidFill>
              </a:rPr>
              <a:t>Figure 1: Kubernetes history</a:t>
            </a:r>
          </a:p>
        </p:txBody>
      </p:sp>
    </p:spTree>
    <p:extLst>
      <p:ext uri="{BB962C8B-B14F-4D97-AF65-F5344CB8AC3E}">
        <p14:creationId xmlns:p14="http://schemas.microsoft.com/office/powerpoint/2010/main" val="598144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60903-003B-273E-3584-5312F76C3EF3}"/>
              </a:ext>
            </a:extLst>
          </p:cNvPr>
          <p:cNvSpPr>
            <a:spLocks noGrp="1"/>
          </p:cNvSpPr>
          <p:nvPr>
            <p:ph type="title"/>
          </p:nvPr>
        </p:nvSpPr>
        <p:spPr>
          <a:xfrm>
            <a:off x="733562" y="433906"/>
            <a:ext cx="10515601" cy="1327464"/>
          </a:xfrm>
        </p:spPr>
        <p:txBody>
          <a:bodyPr vert="horz" lIns="91440" tIns="45720" rIns="91440" bIns="45720" rtlCol="0" anchor="b">
            <a:normAutofit/>
          </a:bodyPr>
          <a:lstStyle/>
          <a:p>
            <a:r>
              <a:rPr lang="en-US" kern="1200" cap="all" spc="0" baseline="0">
                <a:latin typeface="+mj-lt"/>
                <a:ea typeface="+mj-ea"/>
                <a:cs typeface="Biome" panose="020B0503030204020804" pitchFamily="34" charset="0"/>
              </a:rPr>
              <a:t>Challenges Kubernetes solves</a:t>
            </a:r>
          </a:p>
        </p:txBody>
      </p:sp>
      <p:sp>
        <p:nvSpPr>
          <p:cNvPr id="9" name="TextBox 8">
            <a:extLst>
              <a:ext uri="{FF2B5EF4-FFF2-40B4-BE49-F238E27FC236}">
                <a16:creationId xmlns:a16="http://schemas.microsoft.com/office/drawing/2014/main" id="{66D4B51B-ED4E-11A0-8128-092C167C0982}"/>
              </a:ext>
            </a:extLst>
          </p:cNvPr>
          <p:cNvSpPr txBox="1"/>
          <p:nvPr/>
        </p:nvSpPr>
        <p:spPr>
          <a:xfrm>
            <a:off x="4948237" y="5409320"/>
            <a:ext cx="2295525" cy="269852"/>
          </a:xfrm>
          <a:prstGeom prst="rect">
            <a:avLst/>
          </a:prstGeom>
        </p:spPr>
        <p:txBody>
          <a:bodyPr vert="horz" lIns="91440" tIns="45720" rIns="91440" bIns="45720" rtlCol="0">
            <a:normAutofit/>
          </a:bodyPr>
          <a:lstStyle/>
          <a:p>
            <a:pPr>
              <a:lnSpc>
                <a:spcPct val="120000"/>
              </a:lnSpc>
              <a:spcBef>
                <a:spcPts val="1000"/>
              </a:spcBef>
            </a:pPr>
            <a:r>
              <a:rPr lang="en-US" sz="1000" i="1" dirty="0">
                <a:solidFill>
                  <a:schemeClr val="bg1"/>
                </a:solidFill>
              </a:rPr>
              <a:t>Table 1: Kubernetes problem-solution</a:t>
            </a:r>
          </a:p>
        </p:txBody>
      </p:sp>
      <p:sp>
        <p:nvSpPr>
          <p:cNvPr id="3" name="Slide Number Placeholder 2">
            <a:extLst>
              <a:ext uri="{FF2B5EF4-FFF2-40B4-BE49-F238E27FC236}">
                <a16:creationId xmlns:a16="http://schemas.microsoft.com/office/drawing/2014/main" id="{64347AE7-D6A2-42FB-3D58-6297742FC352}"/>
              </a:ext>
            </a:extLst>
          </p:cNvPr>
          <p:cNvSpPr>
            <a:spLocks noGrp="1"/>
          </p:cNvSpPr>
          <p:nvPr>
            <p:ph type="sldNum" sz="quarter" idx="12"/>
          </p:nvPr>
        </p:nvSpPr>
        <p:spPr>
          <a:xfrm>
            <a:off x="9140971" y="6226198"/>
            <a:ext cx="2743200" cy="365125"/>
          </a:xfrm>
        </p:spPr>
        <p:txBody>
          <a:bodyPr vert="horz" lIns="91440" tIns="45720" rIns="91440" bIns="45720" rtlCol="0" anchor="ctr">
            <a:normAutofit/>
          </a:bodyPr>
          <a:lstStyle/>
          <a:p>
            <a:pPr>
              <a:spcAft>
                <a:spcPts val="600"/>
              </a:spcAft>
            </a:pPr>
            <a:fld id="{FE024F78-56A6-7740-B68D-8D4D026EDF3F}" type="slidenum">
              <a:rPr lang="en-US" smtClean="0"/>
              <a:pPr>
                <a:spcAft>
                  <a:spcPts val="600"/>
                </a:spcAft>
              </a:pPr>
              <a:t>5</a:t>
            </a:fld>
            <a:endParaRPr lang="en-US"/>
          </a:p>
        </p:txBody>
      </p:sp>
      <p:graphicFrame>
        <p:nvGraphicFramePr>
          <p:cNvPr id="8" name="Content Placeholder 7">
            <a:extLst>
              <a:ext uri="{FF2B5EF4-FFF2-40B4-BE49-F238E27FC236}">
                <a16:creationId xmlns:a16="http://schemas.microsoft.com/office/drawing/2014/main" id="{DE3769D1-A336-B44F-5B86-F0AC7EFD39FD}"/>
              </a:ext>
            </a:extLst>
          </p:cNvPr>
          <p:cNvGraphicFramePr>
            <a:graphicFrameLocks noGrp="1"/>
          </p:cNvGraphicFramePr>
          <p:nvPr>
            <p:ph sz="quarter" idx="36"/>
            <p:extLst>
              <p:ext uri="{D42A27DB-BD31-4B8C-83A1-F6EECF244321}">
                <p14:modId xmlns:p14="http://schemas.microsoft.com/office/powerpoint/2010/main" val="2448100603"/>
              </p:ext>
            </p:extLst>
          </p:nvPr>
        </p:nvGraphicFramePr>
        <p:xfrm>
          <a:off x="1771204" y="2266950"/>
          <a:ext cx="8649592" cy="3135048"/>
        </p:xfrm>
        <a:graphic>
          <a:graphicData uri="http://schemas.openxmlformats.org/drawingml/2006/table">
            <a:tbl>
              <a:tblPr firstRow="1" bandRow="1">
                <a:tableStyleId>{AF606853-7671-496A-8E4F-DF71F8EC918B}</a:tableStyleId>
              </a:tblPr>
              <a:tblGrid>
                <a:gridCol w="4324796">
                  <a:extLst>
                    <a:ext uri="{9D8B030D-6E8A-4147-A177-3AD203B41FA5}">
                      <a16:colId xmlns:a16="http://schemas.microsoft.com/office/drawing/2014/main" val="3020885032"/>
                    </a:ext>
                  </a:extLst>
                </a:gridCol>
                <a:gridCol w="4324796">
                  <a:extLst>
                    <a:ext uri="{9D8B030D-6E8A-4147-A177-3AD203B41FA5}">
                      <a16:colId xmlns:a16="http://schemas.microsoft.com/office/drawing/2014/main" val="3541288142"/>
                    </a:ext>
                  </a:extLst>
                </a:gridCol>
              </a:tblGrid>
              <a:tr h="334811">
                <a:tc>
                  <a:txBody>
                    <a:bodyPr/>
                    <a:lstStyle/>
                    <a:p>
                      <a:pPr algn="ctr"/>
                      <a:r>
                        <a:rPr lang="en-US" sz="1600"/>
                        <a:t>Problem</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Kubernetes Solution</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9121312"/>
                  </a:ext>
                </a:extLst>
              </a:tr>
              <a:tr h="563091">
                <a:tc>
                  <a:txBody>
                    <a:bodyPr/>
                    <a:lstStyle/>
                    <a:p>
                      <a:r>
                        <a:rPr lang="en-US" sz="1600" dirty="0"/>
                        <a:t>Managing hundreds of containers manually</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Automated scheduling and placement of containers</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5912781"/>
                  </a:ext>
                </a:extLst>
              </a:tr>
              <a:tr h="334811">
                <a:tc>
                  <a:txBody>
                    <a:bodyPr/>
                    <a:lstStyle/>
                    <a:p>
                      <a:r>
                        <a:rPr lang="en-US" sz="1600"/>
                        <a:t>Application failures</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Self-healing, auto-restarts and rescheduling</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6024084"/>
                  </a:ext>
                </a:extLst>
              </a:tr>
              <a:tr h="563091">
                <a:tc>
                  <a:txBody>
                    <a:bodyPr/>
                    <a:lstStyle/>
                    <a:p>
                      <a:r>
                        <a:rPr lang="en-US" sz="1600"/>
                        <a:t>Inconsistent deployments</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Declarative configuration and versioned deployments</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3083592"/>
                  </a:ext>
                </a:extLst>
              </a:tr>
              <a:tr h="334811">
                <a:tc>
                  <a:txBody>
                    <a:bodyPr/>
                    <a:lstStyle/>
                    <a:p>
                      <a:r>
                        <a:rPr lang="en-US" sz="1600"/>
                        <a:t>Risky updates</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Rolling updates and instant rollbacks</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1461214"/>
                  </a:ext>
                </a:extLst>
              </a:tr>
              <a:tr h="334811">
                <a:tc>
                  <a:txBody>
                    <a:bodyPr/>
                    <a:lstStyle/>
                    <a:p>
                      <a:r>
                        <a:rPr lang="en-US" sz="1600"/>
                        <a:t>Scaling issues under load</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Horizontal, vertical, and cluster autoscaling</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3162059"/>
                  </a:ext>
                </a:extLst>
              </a:tr>
              <a:tr h="334811">
                <a:tc>
                  <a:txBody>
                    <a:bodyPr/>
                    <a:lstStyle/>
                    <a:p>
                      <a:r>
                        <a:rPr lang="en-US" sz="1600"/>
                        <a:t>Service connectivity issues</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Stable networking, DNS, and load balancing</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1415057"/>
                  </a:ext>
                </a:extLst>
              </a:tr>
              <a:tr h="334811">
                <a:tc>
                  <a:txBody>
                    <a:bodyPr/>
                    <a:lstStyle/>
                    <a:p>
                      <a:r>
                        <a:rPr lang="en-US" sz="1600"/>
                        <a:t>Cloud portability challenges</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Vendor-neutral API for hybrid / multi-cloud</a:t>
                      </a:r>
                    </a:p>
                  </a:txBody>
                  <a:tcPr marL="69995" marR="69995" marT="34998" marB="349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1514439"/>
                  </a:ext>
                </a:extLst>
              </a:tr>
            </a:tbl>
          </a:graphicData>
        </a:graphic>
      </p:graphicFrame>
    </p:spTree>
    <p:extLst>
      <p:ext uri="{BB962C8B-B14F-4D97-AF65-F5344CB8AC3E}">
        <p14:creationId xmlns:p14="http://schemas.microsoft.com/office/powerpoint/2010/main" val="1962637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FD6A3FE-1BF6-4C1A-0553-EBD497A69F2D}"/>
              </a:ext>
            </a:extLst>
          </p:cNvPr>
          <p:cNvSpPr>
            <a:spLocks noGrp="1"/>
          </p:cNvSpPr>
          <p:nvPr>
            <p:ph type="title"/>
          </p:nvPr>
        </p:nvSpPr>
        <p:spPr>
          <a:xfrm>
            <a:off x="2399620" y="162560"/>
            <a:ext cx="8843050" cy="1616904"/>
          </a:xfrm>
        </p:spPr>
        <p:txBody>
          <a:bodyPr anchor="b">
            <a:normAutofit/>
          </a:bodyPr>
          <a:lstStyle/>
          <a:p>
            <a:r>
              <a:rPr lang="en-US" dirty="0"/>
              <a:t>Why is it still relevant?</a:t>
            </a:r>
          </a:p>
        </p:txBody>
      </p:sp>
      <p:sp>
        <p:nvSpPr>
          <p:cNvPr id="6" name="Subtitle 5">
            <a:extLst>
              <a:ext uri="{FF2B5EF4-FFF2-40B4-BE49-F238E27FC236}">
                <a16:creationId xmlns:a16="http://schemas.microsoft.com/office/drawing/2014/main" id="{C15774B0-D971-67D7-27EB-FDB82B3A58CD}"/>
              </a:ext>
            </a:extLst>
          </p:cNvPr>
          <p:cNvSpPr>
            <a:spLocks noGrp="1"/>
          </p:cNvSpPr>
          <p:nvPr>
            <p:ph sz="quarter" idx="35"/>
          </p:nvPr>
        </p:nvSpPr>
        <p:spPr>
          <a:xfrm>
            <a:off x="2302625" y="3036429"/>
            <a:ext cx="4799323" cy="2382939"/>
          </a:xfrm>
        </p:spPr>
        <p:txBody>
          <a:bodyPr>
            <a:normAutofit lnSpcReduction="10000"/>
          </a:bodyPr>
          <a:lstStyle/>
          <a:p>
            <a:pPr marL="285750" indent="-285750">
              <a:lnSpc>
                <a:spcPct val="110000"/>
              </a:lnSpc>
              <a:buFont typeface="Arial" panose="020B0604020202020204" pitchFamily="34" charset="0"/>
              <a:buChar char="•"/>
            </a:pPr>
            <a:r>
              <a:rPr lang="en-US" dirty="0"/>
              <a:t>Dominant container orchestration platform</a:t>
            </a:r>
          </a:p>
          <a:p>
            <a:pPr marL="285750" indent="-285750">
              <a:lnSpc>
                <a:spcPct val="110000"/>
              </a:lnSpc>
              <a:buFont typeface="Arial" panose="020B0604020202020204" pitchFamily="34" charset="0"/>
              <a:buChar char="•"/>
            </a:pPr>
            <a:r>
              <a:rPr lang="en-US" dirty="0"/>
              <a:t>Large ecosystem and community support</a:t>
            </a:r>
          </a:p>
          <a:p>
            <a:pPr marL="285750" indent="-285750">
              <a:lnSpc>
                <a:spcPct val="110000"/>
              </a:lnSpc>
              <a:buFont typeface="Arial" panose="020B0604020202020204" pitchFamily="34" charset="0"/>
              <a:buChar char="•"/>
            </a:pPr>
            <a:r>
              <a:rPr lang="en-US" dirty="0"/>
              <a:t>Open-source, flexible, ad extensible</a:t>
            </a:r>
          </a:p>
          <a:p>
            <a:pPr marL="285750" indent="-285750">
              <a:lnSpc>
                <a:spcPct val="110000"/>
              </a:lnSpc>
              <a:buFont typeface="Arial" panose="020B0604020202020204" pitchFamily="34" charset="0"/>
              <a:buChar char="•"/>
            </a:pPr>
            <a:r>
              <a:rPr lang="en-US" dirty="0"/>
              <a:t>Hybrid and multi-cloud portability</a:t>
            </a:r>
          </a:p>
          <a:p>
            <a:pPr marL="285750" indent="-285750">
              <a:lnSpc>
                <a:spcPct val="110000"/>
              </a:lnSpc>
              <a:buFont typeface="Arial" panose="020B0604020202020204" pitchFamily="34" charset="0"/>
              <a:buChar char="•"/>
            </a:pPr>
            <a:r>
              <a:rPr lang="en-US" dirty="0"/>
              <a:t>Continually evolving with new features (</a:t>
            </a:r>
            <a:r>
              <a:rPr lang="en-US" dirty="0" err="1"/>
              <a:t>Knative</a:t>
            </a:r>
            <a:r>
              <a:rPr lang="en-US" dirty="0"/>
              <a:t>, Kubeflow)</a:t>
            </a:r>
          </a:p>
        </p:txBody>
      </p:sp>
      <p:pic>
        <p:nvPicPr>
          <p:cNvPr id="4" name="Picture 3" descr="A circular chart with different colored symbols&#10;&#10;AI-generated content may be incorrect.">
            <a:extLst>
              <a:ext uri="{FF2B5EF4-FFF2-40B4-BE49-F238E27FC236}">
                <a16:creationId xmlns:a16="http://schemas.microsoft.com/office/drawing/2014/main" id="{8CD9F7D2-8F51-8AD9-C5DB-D0E8D562F3AA}"/>
              </a:ext>
            </a:extLst>
          </p:cNvPr>
          <p:cNvPicPr>
            <a:picLocks noChangeAspect="1"/>
          </p:cNvPicPr>
          <p:nvPr/>
        </p:nvPicPr>
        <p:blipFill>
          <a:blip r:embed="rId3"/>
          <a:stretch>
            <a:fillRect/>
          </a:stretch>
        </p:blipFill>
        <p:spPr>
          <a:xfrm>
            <a:off x="7101948" y="2229600"/>
            <a:ext cx="4309001" cy="3996598"/>
          </a:xfrm>
          <a:prstGeom prst="rect">
            <a:avLst/>
          </a:prstGeom>
          <a:noFill/>
        </p:spPr>
      </p:pic>
      <p:sp>
        <p:nvSpPr>
          <p:cNvPr id="14" name="Slide Number Placeholder 4">
            <a:extLst>
              <a:ext uri="{FF2B5EF4-FFF2-40B4-BE49-F238E27FC236}">
                <a16:creationId xmlns:a16="http://schemas.microsoft.com/office/drawing/2014/main" id="{FC4838DF-8C7F-4049-9F61-FB0EC1FD0B44}"/>
              </a:ext>
            </a:extLst>
          </p:cNvPr>
          <p:cNvSpPr>
            <a:spLocks noGrp="1"/>
          </p:cNvSpPr>
          <p:nvPr>
            <p:ph type="sldNum" sz="quarter" idx="12"/>
          </p:nvPr>
        </p:nvSpPr>
        <p:spPr>
          <a:xfrm>
            <a:off x="9140971" y="6226198"/>
            <a:ext cx="2743200" cy="365125"/>
          </a:xfrm>
        </p:spPr>
        <p:txBody>
          <a:bodyPr/>
          <a:lstStyle/>
          <a:p>
            <a:pPr>
              <a:spcAft>
                <a:spcPts val="600"/>
              </a:spcAft>
            </a:pPr>
            <a:fld id="{FE024F78-56A6-7740-B68D-8D4D026EDF3F}" type="slidenum">
              <a:rPr lang="en-US" smtClean="0"/>
              <a:pPr>
                <a:spcAft>
                  <a:spcPts val="600"/>
                </a:spcAft>
              </a:pPr>
              <a:t>6</a:t>
            </a:fld>
            <a:endParaRPr lang="en-US"/>
          </a:p>
        </p:txBody>
      </p:sp>
      <p:sp>
        <p:nvSpPr>
          <p:cNvPr id="3" name="Rectangle 2" hidden="1">
            <a:extLst>
              <a:ext uri="{FF2B5EF4-FFF2-40B4-BE49-F238E27FC236}">
                <a16:creationId xmlns:a16="http://schemas.microsoft.com/office/drawing/2014/main" id="{8692FC88-DAD7-F5AD-7831-DE54322108F6}"/>
              </a:ext>
              <a:ext uri="{C183D7F6-B498-43B3-948B-1728B52AA6E4}">
                <adec:decorative xmlns:adec="http://schemas.microsoft.com/office/drawing/2017/decorative" val="1"/>
              </a:ext>
            </a:extLst>
          </p:cNvPr>
          <p:cNvSpPr/>
          <p:nvPr/>
        </p:nvSpPr>
        <p:spPr>
          <a:xfrm>
            <a:off x="1" y="2"/>
            <a:ext cx="12227942" cy="6857997"/>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TextBox 4">
            <a:extLst>
              <a:ext uri="{FF2B5EF4-FFF2-40B4-BE49-F238E27FC236}">
                <a16:creationId xmlns:a16="http://schemas.microsoft.com/office/drawing/2014/main" id="{ECDA5B72-322E-6758-F281-B47D1E1ADC49}"/>
              </a:ext>
            </a:extLst>
          </p:cNvPr>
          <p:cNvSpPr txBox="1"/>
          <p:nvPr/>
        </p:nvSpPr>
        <p:spPr>
          <a:xfrm>
            <a:off x="8231167" y="6162539"/>
            <a:ext cx="2050561" cy="246221"/>
          </a:xfrm>
          <a:prstGeom prst="rect">
            <a:avLst/>
          </a:prstGeom>
          <a:noFill/>
        </p:spPr>
        <p:txBody>
          <a:bodyPr wrap="none" rtlCol="0">
            <a:spAutoFit/>
          </a:bodyPr>
          <a:lstStyle/>
          <a:p>
            <a:r>
              <a:rPr lang="en-US" sz="1000" i="1" dirty="0">
                <a:solidFill>
                  <a:schemeClr val="bg1"/>
                </a:solidFill>
              </a:rPr>
              <a:t>Figure 2: Kubernetes ecosystem</a:t>
            </a:r>
          </a:p>
        </p:txBody>
      </p:sp>
    </p:spTree>
    <p:extLst>
      <p:ext uri="{BB962C8B-B14F-4D97-AF65-F5344CB8AC3E}">
        <p14:creationId xmlns:p14="http://schemas.microsoft.com/office/powerpoint/2010/main" val="1330733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83E06-8BEA-1DD3-D0D6-391C08880EBF}"/>
              </a:ext>
            </a:extLst>
          </p:cNvPr>
          <p:cNvSpPr>
            <a:spLocks noGrp="1"/>
          </p:cNvSpPr>
          <p:nvPr>
            <p:ph type="title"/>
          </p:nvPr>
        </p:nvSpPr>
        <p:spPr/>
        <p:txBody>
          <a:bodyPr anchor="b">
            <a:normAutofit/>
          </a:bodyPr>
          <a:lstStyle/>
          <a:p>
            <a:r>
              <a:rPr lang="en-US" dirty="0"/>
              <a:t>Alternative tools</a:t>
            </a:r>
          </a:p>
        </p:txBody>
      </p:sp>
      <p:sp>
        <p:nvSpPr>
          <p:cNvPr id="15" name="Table Placeholder 14">
            <a:extLst>
              <a:ext uri="{FF2B5EF4-FFF2-40B4-BE49-F238E27FC236}">
                <a16:creationId xmlns:a16="http://schemas.microsoft.com/office/drawing/2014/main" id="{692A64DE-F944-C635-3F2B-173EDD710641}"/>
              </a:ext>
            </a:extLst>
          </p:cNvPr>
          <p:cNvSpPr>
            <a:spLocks noGrp="1"/>
          </p:cNvSpPr>
          <p:nvPr>
            <p:ph type="tbl" sz="quarter" idx="13"/>
          </p:nvPr>
        </p:nvSpPr>
        <p:spPr/>
        <p:txBody>
          <a:bodyPr/>
          <a:lstStyle/>
          <a:p>
            <a:endParaRPr lang="en-US"/>
          </a:p>
        </p:txBody>
      </p:sp>
      <p:sp>
        <p:nvSpPr>
          <p:cNvPr id="5" name="Slide Number Placeholder 4">
            <a:extLst>
              <a:ext uri="{FF2B5EF4-FFF2-40B4-BE49-F238E27FC236}">
                <a16:creationId xmlns:a16="http://schemas.microsoft.com/office/drawing/2014/main" id="{E87B8B6A-2B28-5C38-80E7-0EBE705FFBBF}"/>
              </a:ext>
            </a:extLst>
          </p:cNvPr>
          <p:cNvSpPr>
            <a:spLocks noGrp="1"/>
          </p:cNvSpPr>
          <p:nvPr>
            <p:ph type="sldNum" sz="quarter" idx="12"/>
          </p:nvPr>
        </p:nvSpPr>
        <p:spPr/>
        <p:txBody>
          <a:bodyPr anchor="ctr">
            <a:normAutofit/>
          </a:bodyPr>
          <a:lstStyle/>
          <a:p>
            <a:pPr>
              <a:spcAft>
                <a:spcPts val="600"/>
              </a:spcAft>
            </a:pPr>
            <a:fld id="{FE024F78-56A6-7740-B68D-8D4D026EDF3F}" type="slidenum">
              <a:rPr lang="en-US" smtClean="0"/>
              <a:pPr>
                <a:spcAft>
                  <a:spcPts val="600"/>
                </a:spcAft>
              </a:pPr>
              <a:t>7</a:t>
            </a:fld>
            <a:endParaRPr lang="en-US"/>
          </a:p>
        </p:txBody>
      </p:sp>
      <p:pic>
        <p:nvPicPr>
          <p:cNvPr id="14" name="Picture 13">
            <a:extLst>
              <a:ext uri="{FF2B5EF4-FFF2-40B4-BE49-F238E27FC236}">
                <a16:creationId xmlns:a16="http://schemas.microsoft.com/office/drawing/2014/main" id="{75C306DD-A536-B13D-9B37-F01AA1E527D7}"/>
              </a:ext>
            </a:extLst>
          </p:cNvPr>
          <p:cNvPicPr>
            <a:picLocks noChangeAspect="1"/>
          </p:cNvPicPr>
          <p:nvPr/>
        </p:nvPicPr>
        <p:blipFill>
          <a:blip r:embed="rId3"/>
          <a:stretch>
            <a:fillRect/>
          </a:stretch>
        </p:blipFill>
        <p:spPr>
          <a:xfrm>
            <a:off x="597147" y="2186878"/>
            <a:ext cx="10991356" cy="4039320"/>
          </a:xfrm>
          <a:prstGeom prst="rect">
            <a:avLst/>
          </a:prstGeom>
          <a:noFill/>
        </p:spPr>
      </p:pic>
      <p:sp>
        <p:nvSpPr>
          <p:cNvPr id="16" name="TextBox 15">
            <a:extLst>
              <a:ext uri="{FF2B5EF4-FFF2-40B4-BE49-F238E27FC236}">
                <a16:creationId xmlns:a16="http://schemas.microsoft.com/office/drawing/2014/main" id="{EE4B3935-749A-04AA-05F4-1B27E48B170E}"/>
              </a:ext>
            </a:extLst>
          </p:cNvPr>
          <p:cNvSpPr txBox="1"/>
          <p:nvPr/>
        </p:nvSpPr>
        <p:spPr>
          <a:xfrm>
            <a:off x="4936899" y="6221571"/>
            <a:ext cx="2258952" cy="246221"/>
          </a:xfrm>
          <a:prstGeom prst="rect">
            <a:avLst/>
          </a:prstGeom>
          <a:noFill/>
        </p:spPr>
        <p:txBody>
          <a:bodyPr wrap="none" rtlCol="0">
            <a:spAutoFit/>
          </a:bodyPr>
          <a:lstStyle/>
          <a:p>
            <a:r>
              <a:rPr lang="en-US" sz="1000" i="1" dirty="0">
                <a:solidFill>
                  <a:schemeClr val="bg1"/>
                </a:solidFill>
              </a:rPr>
              <a:t>Table 2: Comparison with other tools</a:t>
            </a:r>
          </a:p>
        </p:txBody>
      </p:sp>
    </p:spTree>
    <p:extLst>
      <p:ext uri="{BB962C8B-B14F-4D97-AF65-F5344CB8AC3E}">
        <p14:creationId xmlns:p14="http://schemas.microsoft.com/office/powerpoint/2010/main" val="2728059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3EB8B-0AB9-7554-AEEA-E8D744959E9A}"/>
              </a:ext>
            </a:extLst>
          </p:cNvPr>
          <p:cNvSpPr>
            <a:spLocks noGrp="1"/>
          </p:cNvSpPr>
          <p:nvPr>
            <p:ph type="title"/>
          </p:nvPr>
        </p:nvSpPr>
        <p:spPr>
          <a:xfrm>
            <a:off x="741680" y="430482"/>
            <a:ext cx="10500989" cy="1327464"/>
          </a:xfrm>
        </p:spPr>
        <p:txBody>
          <a:bodyPr anchor="b">
            <a:normAutofit/>
          </a:bodyPr>
          <a:lstStyle/>
          <a:p>
            <a:pPr lvl="0"/>
            <a:r>
              <a:rPr lang="en-US" noProof="0" dirty="0" err="1"/>
              <a:t>Wh</a:t>
            </a:r>
            <a:r>
              <a:rPr lang="en-US" dirty="0"/>
              <a:t>y Kubernetes stands out?</a:t>
            </a:r>
            <a:endParaRPr lang="en-US" noProof="0" dirty="0"/>
          </a:p>
        </p:txBody>
      </p:sp>
      <p:sp>
        <p:nvSpPr>
          <p:cNvPr id="3" name="Content Placeholder 2">
            <a:extLst>
              <a:ext uri="{FF2B5EF4-FFF2-40B4-BE49-F238E27FC236}">
                <a16:creationId xmlns:a16="http://schemas.microsoft.com/office/drawing/2014/main" id="{FB2F5F9A-B16D-CA49-7F40-A0142E41DC56}"/>
              </a:ext>
            </a:extLst>
          </p:cNvPr>
          <p:cNvSpPr>
            <a:spLocks noGrp="1"/>
          </p:cNvSpPr>
          <p:nvPr>
            <p:ph sz="quarter" idx="35"/>
          </p:nvPr>
        </p:nvSpPr>
        <p:spPr>
          <a:xfrm>
            <a:off x="807038" y="2465539"/>
            <a:ext cx="3774587" cy="3723753"/>
          </a:xfrm>
        </p:spPr>
        <p:txBody>
          <a:bodyPr>
            <a:normAutofit/>
          </a:bodyPr>
          <a:lstStyle/>
          <a:p>
            <a:pPr marL="285750" indent="-285750">
              <a:buFont typeface="Arial" panose="020B0604020202020204" pitchFamily="34" charset="0"/>
              <a:buChar char="•"/>
            </a:pPr>
            <a:r>
              <a:rPr lang="en-US" dirty="0"/>
              <a:t>Largest community and ecosystem</a:t>
            </a:r>
          </a:p>
          <a:p>
            <a:pPr marL="285750" indent="-285750">
              <a:buFont typeface="Arial" panose="020B0604020202020204" pitchFamily="34" charset="0"/>
              <a:buChar char="•"/>
            </a:pPr>
            <a:r>
              <a:rPr lang="en-US" dirty="0"/>
              <a:t>High scalability for thousands of nodes</a:t>
            </a:r>
          </a:p>
          <a:p>
            <a:pPr marL="285750" indent="-285750">
              <a:buFont typeface="Arial" panose="020B0604020202020204" pitchFamily="34" charset="0"/>
              <a:buChar char="•"/>
            </a:pPr>
            <a:r>
              <a:rPr lang="en-US" dirty="0"/>
              <a:t>Built-in features: auto-scaling, rolling updates, service discovery</a:t>
            </a:r>
          </a:p>
          <a:p>
            <a:pPr marL="285750" indent="-285750">
              <a:buFont typeface="Arial" panose="020B0604020202020204" pitchFamily="34" charset="0"/>
              <a:buChar char="•"/>
            </a:pPr>
            <a:r>
              <a:rPr lang="en-US" dirty="0"/>
              <a:t>Portability across on-prem, public, hybrid clouds</a:t>
            </a:r>
          </a:p>
        </p:txBody>
      </p:sp>
      <p:pic>
        <p:nvPicPr>
          <p:cNvPr id="14" name="Picture 13">
            <a:extLst>
              <a:ext uri="{FF2B5EF4-FFF2-40B4-BE49-F238E27FC236}">
                <a16:creationId xmlns:a16="http://schemas.microsoft.com/office/drawing/2014/main" id="{04B66C4A-A519-70BC-9C56-72C08A3674F3}"/>
              </a:ext>
            </a:extLst>
          </p:cNvPr>
          <p:cNvPicPr>
            <a:picLocks noChangeAspect="1"/>
          </p:cNvPicPr>
          <p:nvPr/>
        </p:nvPicPr>
        <p:blipFill>
          <a:blip r:embed="rId3"/>
          <a:stretch>
            <a:fillRect/>
          </a:stretch>
        </p:blipFill>
        <p:spPr>
          <a:xfrm>
            <a:off x="4927600" y="2543409"/>
            <a:ext cx="6315069" cy="3568013"/>
          </a:xfrm>
          <a:prstGeom prst="rect">
            <a:avLst/>
          </a:prstGeom>
          <a:noFill/>
        </p:spPr>
      </p:pic>
      <p:sp>
        <p:nvSpPr>
          <p:cNvPr id="4" name="Slide Number Placeholder 3">
            <a:extLst>
              <a:ext uri="{FF2B5EF4-FFF2-40B4-BE49-F238E27FC236}">
                <a16:creationId xmlns:a16="http://schemas.microsoft.com/office/drawing/2014/main" id="{921DB868-BEE2-49F7-9AC5-A3B143880250}"/>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8</a:t>
            </a:fld>
            <a:endParaRPr lang="en-US"/>
          </a:p>
        </p:txBody>
      </p:sp>
      <p:sp>
        <p:nvSpPr>
          <p:cNvPr id="15" name="TextBox 14">
            <a:extLst>
              <a:ext uri="{FF2B5EF4-FFF2-40B4-BE49-F238E27FC236}">
                <a16:creationId xmlns:a16="http://schemas.microsoft.com/office/drawing/2014/main" id="{3A3074DB-8625-D99F-0746-F6505E5C351D}"/>
              </a:ext>
            </a:extLst>
          </p:cNvPr>
          <p:cNvSpPr txBox="1"/>
          <p:nvPr/>
        </p:nvSpPr>
        <p:spPr>
          <a:xfrm>
            <a:off x="7077486" y="6111422"/>
            <a:ext cx="2015295" cy="246221"/>
          </a:xfrm>
          <a:prstGeom prst="rect">
            <a:avLst/>
          </a:prstGeom>
          <a:noFill/>
        </p:spPr>
        <p:txBody>
          <a:bodyPr wrap="none" rtlCol="0">
            <a:spAutoFit/>
          </a:bodyPr>
          <a:lstStyle/>
          <a:p>
            <a:r>
              <a:rPr lang="en-US" sz="1000" i="1" dirty="0">
                <a:solidFill>
                  <a:schemeClr val="bg1"/>
                </a:solidFill>
              </a:rPr>
              <a:t>Figure 3: Kubernetes ecosystem</a:t>
            </a:r>
          </a:p>
        </p:txBody>
      </p:sp>
    </p:spTree>
    <p:extLst>
      <p:ext uri="{BB962C8B-B14F-4D97-AF65-F5344CB8AC3E}">
        <p14:creationId xmlns:p14="http://schemas.microsoft.com/office/powerpoint/2010/main" val="910315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DE3104-398C-EF95-D86E-630F512487F9}"/>
              </a:ext>
            </a:extLst>
          </p:cNvPr>
          <p:cNvSpPr>
            <a:spLocks noGrp="1"/>
          </p:cNvSpPr>
          <p:nvPr>
            <p:ph type="title"/>
          </p:nvPr>
        </p:nvSpPr>
        <p:spPr>
          <a:xfrm>
            <a:off x="741680" y="430482"/>
            <a:ext cx="10500989" cy="1327464"/>
          </a:xfrm>
        </p:spPr>
        <p:txBody>
          <a:bodyPr anchor="b">
            <a:normAutofit/>
          </a:bodyPr>
          <a:lstStyle/>
          <a:p>
            <a:pPr lvl="0"/>
            <a:r>
              <a:rPr lang="en-US" noProof="0" dirty="0"/>
              <a:t>Choosing </a:t>
            </a:r>
            <a:r>
              <a:rPr lang="en-US" noProof="0" dirty="0" err="1"/>
              <a:t>kubernetes</a:t>
            </a:r>
            <a:endParaRPr lang="en-US" noProof="0" dirty="0"/>
          </a:p>
        </p:txBody>
      </p:sp>
      <p:sp>
        <p:nvSpPr>
          <p:cNvPr id="4" name="Content Placeholder 3">
            <a:extLst>
              <a:ext uri="{FF2B5EF4-FFF2-40B4-BE49-F238E27FC236}">
                <a16:creationId xmlns:a16="http://schemas.microsoft.com/office/drawing/2014/main" id="{67328E6B-D306-C2F9-54E9-FD35599AC24B}"/>
              </a:ext>
            </a:extLst>
          </p:cNvPr>
          <p:cNvSpPr>
            <a:spLocks noGrp="1"/>
          </p:cNvSpPr>
          <p:nvPr>
            <p:ph sz="quarter" idx="35"/>
          </p:nvPr>
        </p:nvSpPr>
        <p:spPr>
          <a:xfrm>
            <a:off x="1141729" y="2084539"/>
            <a:ext cx="10500989" cy="972986"/>
          </a:xfrm>
        </p:spPr>
        <p:txBody>
          <a:bodyPr>
            <a:normAutofit fontScale="85000" lnSpcReduction="10000"/>
          </a:bodyPr>
          <a:lstStyle/>
          <a:p>
            <a:pPr marL="285750" indent="-285750">
              <a:buFont typeface="Arial" panose="020B0604020202020204" pitchFamily="34" charset="0"/>
              <a:buChar char="•"/>
            </a:pPr>
            <a:r>
              <a:rPr lang="en-US" dirty="0"/>
              <a:t>Powerful but not always necessary</a:t>
            </a:r>
          </a:p>
          <a:p>
            <a:pPr marL="285750" indent="-285750">
              <a:buFont typeface="Arial" panose="020B0604020202020204" pitchFamily="34" charset="0"/>
              <a:buChar char="•"/>
            </a:pPr>
            <a:r>
              <a:rPr lang="en-US" dirty="0"/>
              <a:t>Its adoption depends on application complexity, scaling needs, team expertise and infrastructure resources</a:t>
            </a:r>
          </a:p>
        </p:txBody>
      </p:sp>
      <p:sp>
        <p:nvSpPr>
          <p:cNvPr id="12" name="Slide Number Placeholder 4">
            <a:extLst>
              <a:ext uri="{FF2B5EF4-FFF2-40B4-BE49-F238E27FC236}">
                <a16:creationId xmlns:a16="http://schemas.microsoft.com/office/drawing/2014/main" id="{972A15D2-297B-CC7F-7C0C-67D678EDADC9}"/>
              </a:ext>
            </a:extLst>
          </p:cNvPr>
          <p:cNvSpPr>
            <a:spLocks noGrp="1"/>
          </p:cNvSpPr>
          <p:nvPr>
            <p:ph type="sldNum" sz="quarter" idx="12"/>
          </p:nvPr>
        </p:nvSpPr>
        <p:spPr>
          <a:xfrm>
            <a:off x="9140971" y="6226198"/>
            <a:ext cx="2743200" cy="365125"/>
          </a:xfrm>
        </p:spPr>
        <p:txBody>
          <a:bodyPr/>
          <a:lstStyle/>
          <a:p>
            <a:pPr>
              <a:spcAft>
                <a:spcPts val="600"/>
              </a:spcAft>
            </a:pPr>
            <a:fld id="{FE024F78-56A6-7740-B68D-8D4D026EDF3F}" type="slidenum">
              <a:rPr lang="en-US" smtClean="0"/>
              <a:pPr>
                <a:spcAft>
                  <a:spcPts val="600"/>
                </a:spcAft>
              </a:pPr>
              <a:t>9</a:t>
            </a:fld>
            <a:endParaRPr lang="en-US"/>
          </a:p>
        </p:txBody>
      </p:sp>
      <p:graphicFrame>
        <p:nvGraphicFramePr>
          <p:cNvPr id="7" name="Table Placeholder 6">
            <a:extLst>
              <a:ext uri="{FF2B5EF4-FFF2-40B4-BE49-F238E27FC236}">
                <a16:creationId xmlns:a16="http://schemas.microsoft.com/office/drawing/2014/main" id="{64B0A658-2FDE-37CF-4379-9AE21265E376}"/>
              </a:ext>
            </a:extLst>
          </p:cNvPr>
          <p:cNvGraphicFramePr>
            <a:graphicFrameLocks noGrp="1"/>
          </p:cNvGraphicFramePr>
          <p:nvPr>
            <p:ph sz="quarter" idx="36"/>
            <p:extLst>
              <p:ext uri="{D42A27DB-BD31-4B8C-83A1-F6EECF244321}">
                <p14:modId xmlns:p14="http://schemas.microsoft.com/office/powerpoint/2010/main" val="1542827155"/>
              </p:ext>
            </p:extLst>
          </p:nvPr>
        </p:nvGraphicFramePr>
        <p:xfrm>
          <a:off x="2475069" y="3089737"/>
          <a:ext cx="7034210" cy="3066149"/>
        </p:xfrm>
        <a:graphic>
          <a:graphicData uri="http://schemas.openxmlformats.org/drawingml/2006/table">
            <a:tbl>
              <a:tblPr firstRow="1" bandRow="1">
                <a:tableStyleId>{AF606853-7671-496A-8E4F-DF71F8EC918B}</a:tableStyleId>
              </a:tblPr>
              <a:tblGrid>
                <a:gridCol w="3511234">
                  <a:extLst>
                    <a:ext uri="{9D8B030D-6E8A-4147-A177-3AD203B41FA5}">
                      <a16:colId xmlns:a16="http://schemas.microsoft.com/office/drawing/2014/main" val="996687894"/>
                    </a:ext>
                  </a:extLst>
                </a:gridCol>
                <a:gridCol w="3522976">
                  <a:extLst>
                    <a:ext uri="{9D8B030D-6E8A-4147-A177-3AD203B41FA5}">
                      <a16:colId xmlns:a16="http://schemas.microsoft.com/office/drawing/2014/main" val="364656127"/>
                    </a:ext>
                  </a:extLst>
                </a:gridCol>
              </a:tblGrid>
              <a:tr h="308639">
                <a:tc>
                  <a:txBody>
                    <a:bodyPr/>
                    <a:lstStyle/>
                    <a:p>
                      <a:pPr algn="ctr"/>
                      <a:r>
                        <a:rPr lang="en-US" sz="1300"/>
                        <a:t>When to use</a:t>
                      </a:r>
                    </a:p>
                  </a:txBody>
                  <a:tcPr marL="75895" marR="75895" marT="37947" marB="379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When not to use</a:t>
                      </a:r>
                    </a:p>
                  </a:txBody>
                  <a:tcPr marL="75895" marR="75895" marT="37947" marB="379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6314623"/>
                  </a:ext>
                </a:extLst>
              </a:tr>
              <a:tr h="511025">
                <a:tc>
                  <a:txBody>
                    <a:bodyPr/>
                    <a:lstStyle/>
                    <a:p>
                      <a:r>
                        <a:rPr lang="en-US" sz="1300"/>
                        <a:t>Microservice architecture with multiple, loosely coupled services</a:t>
                      </a:r>
                    </a:p>
                  </a:txBody>
                  <a:tcPr marL="75895" marR="75895" marT="37947" marB="379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Monolithic applications with simple deployment requirements</a:t>
                      </a:r>
                    </a:p>
                  </a:txBody>
                  <a:tcPr marL="75895" marR="75895" marT="37947" marB="379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7175523"/>
                  </a:ext>
                </a:extLst>
              </a:tr>
              <a:tr h="511025">
                <a:tc>
                  <a:txBody>
                    <a:bodyPr/>
                    <a:lstStyle/>
                    <a:p>
                      <a:r>
                        <a:rPr lang="en-US" sz="1300"/>
                        <a:t>Applications requiring high availability and dynamic scaling</a:t>
                      </a:r>
                    </a:p>
                  </a:txBody>
                  <a:tcPr marL="75895" marR="75895" marT="37947" marB="379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Low-traffic or single-instance applications</a:t>
                      </a:r>
                    </a:p>
                  </a:txBody>
                  <a:tcPr marL="75895" marR="75895" marT="37947" marB="379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7314095"/>
                  </a:ext>
                </a:extLst>
              </a:tr>
              <a:tr h="511025">
                <a:tc>
                  <a:txBody>
                    <a:bodyPr/>
                    <a:lstStyle/>
                    <a:p>
                      <a:r>
                        <a:rPr lang="en-US" sz="1300"/>
                        <a:t>CI/CD pipelines with frequent deployments</a:t>
                      </a:r>
                    </a:p>
                  </a:txBody>
                  <a:tcPr marL="75895" marR="75895" marT="37947" marB="379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Teams with limited DevOps expertise or operational resources</a:t>
                      </a:r>
                    </a:p>
                  </a:txBody>
                  <a:tcPr marL="75895" marR="75895" marT="37947" marB="379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1319619"/>
                  </a:ext>
                </a:extLst>
              </a:tr>
              <a:tr h="511025">
                <a:tc>
                  <a:txBody>
                    <a:bodyPr/>
                    <a:lstStyle/>
                    <a:p>
                      <a:r>
                        <a:rPr lang="en-US" sz="1300"/>
                        <a:t>Multi-cloud or hybrid-cloud deployments requiring portability</a:t>
                      </a:r>
                    </a:p>
                  </a:txBody>
                  <a:tcPr marL="75895" marR="75895" marT="37947" marB="379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Projects with constrained infrastructure or strict simplicity requirements</a:t>
                      </a:r>
                    </a:p>
                  </a:txBody>
                  <a:tcPr marL="75895" marR="75895" marT="37947" marB="379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2000305"/>
                  </a:ext>
                </a:extLst>
              </a:tr>
              <a:tr h="713410">
                <a:tc>
                  <a:txBody>
                    <a:bodyPr/>
                    <a:lstStyle/>
                    <a:p>
                      <a:r>
                        <a:rPr lang="en-US" sz="1300"/>
                        <a:t>Workloads that benefit from self-healing, automated scaling and rolling updated</a:t>
                      </a:r>
                    </a:p>
                  </a:txBody>
                  <a:tcPr marL="75895" marR="75895" marT="37947" marB="379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Serverless or PaaS environments where orchestration is handled by the platform</a:t>
                      </a:r>
                    </a:p>
                  </a:txBody>
                  <a:tcPr marL="75895" marR="75895" marT="37947" marB="379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9282921"/>
                  </a:ext>
                </a:extLst>
              </a:tr>
            </a:tbl>
          </a:graphicData>
        </a:graphic>
      </p:graphicFrame>
      <p:sp>
        <p:nvSpPr>
          <p:cNvPr id="8" name="TextBox 7">
            <a:extLst>
              <a:ext uri="{FF2B5EF4-FFF2-40B4-BE49-F238E27FC236}">
                <a16:creationId xmlns:a16="http://schemas.microsoft.com/office/drawing/2014/main" id="{E0E8FED0-DF68-B6B6-DBE5-675AB31A533C}"/>
              </a:ext>
            </a:extLst>
          </p:cNvPr>
          <p:cNvSpPr txBox="1"/>
          <p:nvPr/>
        </p:nvSpPr>
        <p:spPr>
          <a:xfrm>
            <a:off x="4523663" y="6155886"/>
            <a:ext cx="2937022" cy="246221"/>
          </a:xfrm>
          <a:prstGeom prst="rect">
            <a:avLst/>
          </a:prstGeom>
          <a:noFill/>
        </p:spPr>
        <p:txBody>
          <a:bodyPr wrap="none" rtlCol="0">
            <a:spAutoFit/>
          </a:bodyPr>
          <a:lstStyle/>
          <a:p>
            <a:r>
              <a:rPr lang="en-US" sz="1000" i="1" dirty="0">
                <a:solidFill>
                  <a:schemeClr val="bg1"/>
                </a:solidFill>
              </a:rPr>
              <a:t>Table 3: When (and when not) to use Kubernetes</a:t>
            </a:r>
          </a:p>
        </p:txBody>
      </p:sp>
    </p:spTree>
    <p:extLst>
      <p:ext uri="{BB962C8B-B14F-4D97-AF65-F5344CB8AC3E}">
        <p14:creationId xmlns:p14="http://schemas.microsoft.com/office/powerpoint/2010/main" val="2170071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E810E-8E37-1D8A-245B-020E4E4C0B9F}"/>
              </a:ext>
            </a:extLst>
          </p:cNvPr>
          <p:cNvSpPr>
            <a:spLocks noGrp="1"/>
          </p:cNvSpPr>
          <p:nvPr>
            <p:ph type="title"/>
          </p:nvPr>
        </p:nvSpPr>
        <p:spPr/>
        <p:txBody>
          <a:bodyPr/>
          <a:lstStyle/>
          <a:p>
            <a:r>
              <a:rPr lang="en-US" dirty="0"/>
              <a:t>How Kubernetes work?</a:t>
            </a:r>
          </a:p>
        </p:txBody>
      </p:sp>
      <p:sp>
        <p:nvSpPr>
          <p:cNvPr id="3" name="Content Placeholder 2">
            <a:extLst>
              <a:ext uri="{FF2B5EF4-FFF2-40B4-BE49-F238E27FC236}">
                <a16:creationId xmlns:a16="http://schemas.microsoft.com/office/drawing/2014/main" id="{7D7CECA3-144C-CD4B-9246-81B4F2E65466}"/>
              </a:ext>
            </a:extLst>
          </p:cNvPr>
          <p:cNvSpPr>
            <a:spLocks noGrp="1"/>
          </p:cNvSpPr>
          <p:nvPr>
            <p:ph sz="quarter" idx="35"/>
          </p:nvPr>
        </p:nvSpPr>
        <p:spPr>
          <a:xfrm>
            <a:off x="2399620" y="2331931"/>
            <a:ext cx="4805852" cy="2998935"/>
          </a:xfrm>
        </p:spPr>
        <p:txBody>
          <a:bodyPr/>
          <a:lstStyle/>
          <a:p>
            <a:pPr marL="0" indent="0">
              <a:buNone/>
            </a:pPr>
            <a:r>
              <a:rPr lang="en-US" dirty="0"/>
              <a:t>Control plane:</a:t>
            </a:r>
          </a:p>
          <a:p>
            <a:pPr marL="285750" indent="-285750">
              <a:buFont typeface="Arial" panose="020B0604020202020204" pitchFamily="34" charset="0"/>
              <a:buChar char="•"/>
            </a:pPr>
            <a:r>
              <a:rPr lang="en-US" dirty="0"/>
              <a:t>API Server: manages communication</a:t>
            </a:r>
          </a:p>
          <a:p>
            <a:pPr marL="285750" indent="-285750">
              <a:buFont typeface="Arial" panose="020B0604020202020204" pitchFamily="34" charset="0"/>
              <a:buChar char="•"/>
            </a:pPr>
            <a:r>
              <a:rPr lang="en-US" dirty="0" err="1"/>
              <a:t>Etcd</a:t>
            </a:r>
            <a:r>
              <a:rPr lang="en-US" dirty="0"/>
              <a:t>: manages the configuration data, state data and metadata</a:t>
            </a:r>
          </a:p>
          <a:p>
            <a:pPr marL="285750" indent="-285750">
              <a:buFont typeface="Arial" panose="020B0604020202020204" pitchFamily="34" charset="0"/>
              <a:buChar char="•"/>
            </a:pPr>
            <a:r>
              <a:rPr lang="en-US" dirty="0"/>
              <a:t>Scheduler: assigns new Pods to Nodes</a:t>
            </a:r>
          </a:p>
          <a:p>
            <a:pPr marL="285750" indent="-285750">
              <a:buFont typeface="Arial" panose="020B0604020202020204" pitchFamily="34" charset="0"/>
              <a:buChar char="•"/>
            </a:pPr>
            <a:r>
              <a:rPr lang="en-US" dirty="0"/>
              <a:t>Controller Manager: runs multiple control loops that watch the cluster’s state</a:t>
            </a:r>
          </a:p>
        </p:txBody>
      </p:sp>
      <p:sp>
        <p:nvSpPr>
          <p:cNvPr id="4" name="Slide Number Placeholder 3">
            <a:extLst>
              <a:ext uri="{FF2B5EF4-FFF2-40B4-BE49-F238E27FC236}">
                <a16:creationId xmlns:a16="http://schemas.microsoft.com/office/drawing/2014/main" id="{FD1E69EA-A9E8-C521-7C62-DA1F24879918}"/>
              </a:ext>
            </a:extLst>
          </p:cNvPr>
          <p:cNvSpPr>
            <a:spLocks noGrp="1"/>
          </p:cNvSpPr>
          <p:nvPr>
            <p:ph type="sldNum" sz="quarter" idx="12"/>
          </p:nvPr>
        </p:nvSpPr>
        <p:spPr/>
        <p:txBody>
          <a:bodyPr/>
          <a:lstStyle/>
          <a:p>
            <a:fld id="{FE024F78-56A6-7740-B68D-8D4D026EDF3F}" type="slidenum">
              <a:rPr lang="en-US" smtClean="0"/>
              <a:pPr/>
              <a:t>10</a:t>
            </a:fld>
            <a:endParaRPr lang="en-US" dirty="0"/>
          </a:p>
        </p:txBody>
      </p:sp>
      <p:sp>
        <p:nvSpPr>
          <p:cNvPr id="8" name="Content Placeholder 2">
            <a:extLst>
              <a:ext uri="{FF2B5EF4-FFF2-40B4-BE49-F238E27FC236}">
                <a16:creationId xmlns:a16="http://schemas.microsoft.com/office/drawing/2014/main" id="{BFE44102-691D-B9A0-545C-F7F9D576C93E}"/>
              </a:ext>
            </a:extLst>
          </p:cNvPr>
          <p:cNvSpPr txBox="1">
            <a:spLocks/>
          </p:cNvSpPr>
          <p:nvPr/>
        </p:nvSpPr>
        <p:spPr>
          <a:xfrm>
            <a:off x="7684250" y="2482389"/>
            <a:ext cx="4358397" cy="2698017"/>
          </a:xfrm>
          <a:prstGeom prst="rect">
            <a:avLst/>
          </a:prstGeom>
        </p:spPr>
        <p:txBody>
          <a:bodyPr vert="horz" lIns="91440" tIns="45720" rIns="91440" bIns="45720" rtlCol="0">
            <a:noAutofit/>
          </a:bodyPr>
          <a:lstStyle>
            <a:lvl1pPr marL="283464" indent="-283464" algn="l" defTabSz="914400" rtl="0" eaLnBrk="1" latinLnBrk="0" hangingPunct="1">
              <a:lnSpc>
                <a:spcPct val="120000"/>
              </a:lnSpc>
              <a:spcBef>
                <a:spcPts val="1000"/>
              </a:spcBef>
              <a:buClr>
                <a:schemeClr val="accent3"/>
              </a:buClr>
              <a:buFont typeface="Arial" panose="020B0604020202020204" pitchFamily="34" charset="0"/>
              <a:buChar char="•"/>
              <a:defRPr sz="1800" kern="1200" spc="0" baseline="0">
                <a:solidFill>
                  <a:schemeClr val="bg1"/>
                </a:solidFill>
                <a:latin typeface="+mn-lt"/>
                <a:ea typeface="+mn-ea"/>
                <a:cs typeface="Biome" panose="020B0503030204020804" pitchFamily="34" charset="0"/>
              </a:defRPr>
            </a:lvl1pPr>
            <a:lvl2pPr marL="566928" indent="-283464" algn="l" defTabSz="914400" rtl="0" eaLnBrk="1" latinLnBrk="0" hangingPunct="1">
              <a:lnSpc>
                <a:spcPct val="120000"/>
              </a:lnSpc>
              <a:spcBef>
                <a:spcPts val="500"/>
              </a:spcBef>
              <a:buClr>
                <a:schemeClr val="accent3"/>
              </a:buClr>
              <a:buFont typeface="Arial" panose="020B0604020202020204" pitchFamily="34" charset="0"/>
              <a:buChar char="•"/>
              <a:defRPr sz="1800" kern="1200" spc="0">
                <a:solidFill>
                  <a:schemeClr val="bg1"/>
                </a:solidFill>
                <a:latin typeface="+mn-lt"/>
                <a:ea typeface="+mn-ea"/>
                <a:cs typeface="+mn-cs"/>
              </a:defRPr>
            </a:lvl2pPr>
            <a:lvl3pPr marL="859536" indent="-283464" algn="l" defTabSz="914400" rtl="0" eaLnBrk="1" latinLnBrk="0" hangingPunct="1">
              <a:lnSpc>
                <a:spcPct val="120000"/>
              </a:lnSpc>
              <a:spcBef>
                <a:spcPts val="500"/>
              </a:spcBef>
              <a:buClr>
                <a:schemeClr val="accent3"/>
              </a:buClr>
              <a:buFont typeface="Arial" panose="020B0604020202020204" pitchFamily="34" charset="0"/>
              <a:buChar char="•"/>
              <a:defRPr sz="1800" kern="1200" spc="0">
                <a:solidFill>
                  <a:schemeClr val="bg1"/>
                </a:solidFill>
                <a:latin typeface="+mn-lt"/>
                <a:ea typeface="+mn-ea"/>
                <a:cs typeface="+mn-cs"/>
              </a:defRPr>
            </a:lvl3pPr>
            <a:lvl4pPr marL="1152144" indent="-285750" algn="l" defTabSz="914400" rtl="0" eaLnBrk="1" latinLnBrk="0" hangingPunct="1">
              <a:lnSpc>
                <a:spcPct val="120000"/>
              </a:lnSpc>
              <a:spcBef>
                <a:spcPts val="500"/>
              </a:spcBef>
              <a:buClr>
                <a:schemeClr val="accent3"/>
              </a:buClr>
              <a:buFont typeface="Arial" panose="020B0604020202020204" pitchFamily="34" charset="0"/>
              <a:buChar char="•"/>
              <a:defRPr sz="1800" kern="1200" spc="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Worker nodes:</a:t>
            </a:r>
          </a:p>
          <a:p>
            <a:r>
              <a:rPr lang="en-US" dirty="0" err="1"/>
              <a:t>kubelet</a:t>
            </a:r>
            <a:r>
              <a:rPr lang="en-US" dirty="0"/>
              <a:t>: makes sure containers are running and healthy </a:t>
            </a:r>
          </a:p>
          <a:p>
            <a:r>
              <a:rPr lang="en-US" dirty="0"/>
              <a:t>container runtime: manages the execution and lifecycle of containers</a:t>
            </a:r>
          </a:p>
          <a:p>
            <a:r>
              <a:rPr lang="en-US" dirty="0" err="1"/>
              <a:t>kube</a:t>
            </a:r>
            <a:r>
              <a:rPr lang="en-US" dirty="0"/>
              <a:t>-proxy: ensures incoming traffic is distributed evenly among the pods</a:t>
            </a:r>
          </a:p>
        </p:txBody>
      </p:sp>
      <p:sp>
        <p:nvSpPr>
          <p:cNvPr id="9" name="Content Placeholder 2">
            <a:extLst>
              <a:ext uri="{FF2B5EF4-FFF2-40B4-BE49-F238E27FC236}">
                <a16:creationId xmlns:a16="http://schemas.microsoft.com/office/drawing/2014/main" id="{57A287FA-D89C-57EB-5A01-4CCCFA5A8E56}"/>
              </a:ext>
            </a:extLst>
          </p:cNvPr>
          <p:cNvSpPr txBox="1">
            <a:spLocks/>
          </p:cNvSpPr>
          <p:nvPr/>
        </p:nvSpPr>
        <p:spPr>
          <a:xfrm>
            <a:off x="2957427" y="3676832"/>
            <a:ext cx="6005598" cy="1227711"/>
          </a:xfrm>
          <a:prstGeom prst="rect">
            <a:avLst/>
          </a:prstGeom>
        </p:spPr>
        <p:txBody>
          <a:bodyPr vert="horz" lIns="91440" tIns="45720" rIns="91440" bIns="45720" rtlCol="0">
            <a:noAutofit/>
          </a:bodyPr>
          <a:lstStyle>
            <a:lvl1pPr marL="283464" indent="-283464" algn="l" defTabSz="914400" rtl="0" eaLnBrk="1" latinLnBrk="0" hangingPunct="1">
              <a:lnSpc>
                <a:spcPct val="120000"/>
              </a:lnSpc>
              <a:spcBef>
                <a:spcPts val="1000"/>
              </a:spcBef>
              <a:buClr>
                <a:schemeClr val="accent3"/>
              </a:buClr>
              <a:buFont typeface="Arial" panose="020B0604020202020204" pitchFamily="34" charset="0"/>
              <a:buChar char="•"/>
              <a:defRPr sz="1800" kern="1200" spc="0" baseline="0">
                <a:solidFill>
                  <a:schemeClr val="bg1"/>
                </a:solidFill>
                <a:latin typeface="+mn-lt"/>
                <a:ea typeface="+mn-ea"/>
                <a:cs typeface="Biome" panose="020B0503030204020804" pitchFamily="34" charset="0"/>
              </a:defRPr>
            </a:lvl1pPr>
            <a:lvl2pPr marL="566928" indent="-283464" algn="l" defTabSz="914400" rtl="0" eaLnBrk="1" latinLnBrk="0" hangingPunct="1">
              <a:lnSpc>
                <a:spcPct val="120000"/>
              </a:lnSpc>
              <a:spcBef>
                <a:spcPts val="500"/>
              </a:spcBef>
              <a:buClr>
                <a:schemeClr val="accent3"/>
              </a:buClr>
              <a:buFont typeface="Arial" panose="020B0604020202020204" pitchFamily="34" charset="0"/>
              <a:buChar char="•"/>
              <a:defRPr sz="1800" kern="1200" spc="0">
                <a:solidFill>
                  <a:schemeClr val="bg1"/>
                </a:solidFill>
                <a:latin typeface="+mn-lt"/>
                <a:ea typeface="+mn-ea"/>
                <a:cs typeface="+mn-cs"/>
              </a:defRPr>
            </a:lvl2pPr>
            <a:lvl3pPr marL="859536" indent="-283464" algn="l" defTabSz="914400" rtl="0" eaLnBrk="1" latinLnBrk="0" hangingPunct="1">
              <a:lnSpc>
                <a:spcPct val="120000"/>
              </a:lnSpc>
              <a:spcBef>
                <a:spcPts val="500"/>
              </a:spcBef>
              <a:buClr>
                <a:schemeClr val="accent3"/>
              </a:buClr>
              <a:buFont typeface="Arial" panose="020B0604020202020204" pitchFamily="34" charset="0"/>
              <a:buChar char="•"/>
              <a:defRPr sz="1800" kern="1200" spc="0">
                <a:solidFill>
                  <a:schemeClr val="bg1"/>
                </a:solidFill>
                <a:latin typeface="+mn-lt"/>
                <a:ea typeface="+mn-ea"/>
                <a:cs typeface="+mn-cs"/>
              </a:defRPr>
            </a:lvl3pPr>
            <a:lvl4pPr marL="1152144" indent="-285750" algn="l" defTabSz="914400" rtl="0" eaLnBrk="1" latinLnBrk="0" hangingPunct="1">
              <a:lnSpc>
                <a:spcPct val="120000"/>
              </a:lnSpc>
              <a:spcBef>
                <a:spcPts val="500"/>
              </a:spcBef>
              <a:buClr>
                <a:schemeClr val="accent3"/>
              </a:buClr>
              <a:buFont typeface="Arial" panose="020B0604020202020204" pitchFamily="34" charset="0"/>
              <a:buChar char="•"/>
              <a:defRPr sz="1800" kern="1200" spc="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10" name="Content Placeholder 2">
            <a:extLst>
              <a:ext uri="{FF2B5EF4-FFF2-40B4-BE49-F238E27FC236}">
                <a16:creationId xmlns:a16="http://schemas.microsoft.com/office/drawing/2014/main" id="{00CB518A-EB5C-E0B6-2613-F5D1271A9F29}"/>
              </a:ext>
            </a:extLst>
          </p:cNvPr>
          <p:cNvSpPr txBox="1">
            <a:spLocks/>
          </p:cNvSpPr>
          <p:nvPr/>
        </p:nvSpPr>
        <p:spPr>
          <a:xfrm>
            <a:off x="4137877" y="5578390"/>
            <a:ext cx="5366535" cy="883107"/>
          </a:xfrm>
          <a:prstGeom prst="rect">
            <a:avLst/>
          </a:prstGeom>
        </p:spPr>
        <p:txBody>
          <a:bodyPr vert="horz" lIns="91440" tIns="45720" rIns="91440" bIns="45720" rtlCol="0">
            <a:noAutofit/>
          </a:bodyPr>
          <a:lstStyle>
            <a:lvl1pPr marL="283464" indent="-283464" algn="l" defTabSz="914400" rtl="0" eaLnBrk="1" latinLnBrk="0" hangingPunct="1">
              <a:lnSpc>
                <a:spcPct val="120000"/>
              </a:lnSpc>
              <a:spcBef>
                <a:spcPts val="1000"/>
              </a:spcBef>
              <a:buClr>
                <a:schemeClr val="accent3"/>
              </a:buClr>
              <a:buFont typeface="Arial" panose="020B0604020202020204" pitchFamily="34" charset="0"/>
              <a:buChar char="•"/>
              <a:defRPr sz="1800" kern="1200" spc="0" baseline="0">
                <a:solidFill>
                  <a:schemeClr val="bg1"/>
                </a:solidFill>
                <a:latin typeface="+mn-lt"/>
                <a:ea typeface="+mn-ea"/>
                <a:cs typeface="Biome" panose="020B0503030204020804" pitchFamily="34" charset="0"/>
              </a:defRPr>
            </a:lvl1pPr>
            <a:lvl2pPr marL="566928" indent="-283464" algn="l" defTabSz="914400" rtl="0" eaLnBrk="1" latinLnBrk="0" hangingPunct="1">
              <a:lnSpc>
                <a:spcPct val="120000"/>
              </a:lnSpc>
              <a:spcBef>
                <a:spcPts val="500"/>
              </a:spcBef>
              <a:buClr>
                <a:schemeClr val="accent3"/>
              </a:buClr>
              <a:buFont typeface="Arial" panose="020B0604020202020204" pitchFamily="34" charset="0"/>
              <a:buChar char="•"/>
              <a:defRPr sz="1800" kern="1200" spc="0">
                <a:solidFill>
                  <a:schemeClr val="bg1"/>
                </a:solidFill>
                <a:latin typeface="+mn-lt"/>
                <a:ea typeface="+mn-ea"/>
                <a:cs typeface="+mn-cs"/>
              </a:defRPr>
            </a:lvl2pPr>
            <a:lvl3pPr marL="859536" indent="-283464" algn="l" defTabSz="914400" rtl="0" eaLnBrk="1" latinLnBrk="0" hangingPunct="1">
              <a:lnSpc>
                <a:spcPct val="120000"/>
              </a:lnSpc>
              <a:spcBef>
                <a:spcPts val="500"/>
              </a:spcBef>
              <a:buClr>
                <a:schemeClr val="accent3"/>
              </a:buClr>
              <a:buFont typeface="Arial" panose="020B0604020202020204" pitchFamily="34" charset="0"/>
              <a:buChar char="•"/>
              <a:defRPr sz="1800" kern="1200" spc="0">
                <a:solidFill>
                  <a:schemeClr val="bg1"/>
                </a:solidFill>
                <a:latin typeface="+mn-lt"/>
                <a:ea typeface="+mn-ea"/>
                <a:cs typeface="+mn-cs"/>
              </a:defRPr>
            </a:lvl3pPr>
            <a:lvl4pPr marL="1152144" indent="-285750" algn="l" defTabSz="914400" rtl="0" eaLnBrk="1" latinLnBrk="0" hangingPunct="1">
              <a:lnSpc>
                <a:spcPct val="120000"/>
              </a:lnSpc>
              <a:spcBef>
                <a:spcPts val="500"/>
              </a:spcBef>
              <a:buClr>
                <a:schemeClr val="accent3"/>
              </a:buClr>
              <a:buFont typeface="Arial" panose="020B0604020202020204" pitchFamily="34" charset="0"/>
              <a:buChar char="•"/>
              <a:defRPr sz="1800" kern="1200" spc="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Desired state model: </a:t>
            </a:r>
          </a:p>
          <a:p>
            <a:r>
              <a:rPr lang="en-US" dirty="0"/>
              <a:t>Continuously reconciles actual vs desired state</a:t>
            </a:r>
          </a:p>
        </p:txBody>
      </p:sp>
    </p:spTree>
    <p:extLst>
      <p:ext uri="{BB962C8B-B14F-4D97-AF65-F5344CB8AC3E}">
        <p14:creationId xmlns:p14="http://schemas.microsoft.com/office/powerpoint/2010/main" val="79695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F125C3-99F8-5ABF-1328-0370F112121B}"/>
              </a:ext>
            </a:extLst>
          </p:cNvPr>
          <p:cNvSpPr>
            <a:spLocks noGrp="1"/>
          </p:cNvSpPr>
          <p:nvPr>
            <p:ph type="title"/>
          </p:nvPr>
        </p:nvSpPr>
        <p:spPr>
          <a:xfrm>
            <a:off x="619262" y="80389"/>
            <a:ext cx="10515601" cy="566219"/>
          </a:xfrm>
        </p:spPr>
        <p:txBody>
          <a:bodyPr anchor="b">
            <a:normAutofit/>
          </a:bodyPr>
          <a:lstStyle/>
          <a:p>
            <a:r>
              <a:rPr lang="en-US" dirty="0"/>
              <a:t>Kubernetes architecture</a:t>
            </a:r>
          </a:p>
        </p:txBody>
      </p:sp>
      <p:sp>
        <p:nvSpPr>
          <p:cNvPr id="4" name="Slide Number Placeholder 3">
            <a:extLst>
              <a:ext uri="{FF2B5EF4-FFF2-40B4-BE49-F238E27FC236}">
                <a16:creationId xmlns:a16="http://schemas.microsoft.com/office/drawing/2014/main" id="{48EA189C-8A41-5C63-2470-06541519CBCD}"/>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11</a:t>
            </a:fld>
            <a:endParaRPr lang="en-US"/>
          </a:p>
        </p:txBody>
      </p:sp>
      <p:pic>
        <p:nvPicPr>
          <p:cNvPr id="10" name="Picture 9">
            <a:extLst>
              <a:ext uri="{FF2B5EF4-FFF2-40B4-BE49-F238E27FC236}">
                <a16:creationId xmlns:a16="http://schemas.microsoft.com/office/drawing/2014/main" id="{ED58D619-24E4-C510-FD6F-0560FE67BFA6}"/>
              </a:ext>
            </a:extLst>
          </p:cNvPr>
          <p:cNvPicPr>
            <a:picLocks noChangeAspect="1"/>
          </p:cNvPicPr>
          <p:nvPr/>
        </p:nvPicPr>
        <p:blipFill>
          <a:blip r:embed="rId3"/>
          <a:stretch>
            <a:fillRect/>
          </a:stretch>
        </p:blipFill>
        <p:spPr>
          <a:xfrm>
            <a:off x="742881" y="728838"/>
            <a:ext cx="10706238" cy="5791575"/>
          </a:xfrm>
          <a:prstGeom prst="rect">
            <a:avLst/>
          </a:prstGeom>
        </p:spPr>
      </p:pic>
      <p:sp>
        <p:nvSpPr>
          <p:cNvPr id="11" name="TextBox 10">
            <a:extLst>
              <a:ext uri="{FF2B5EF4-FFF2-40B4-BE49-F238E27FC236}">
                <a16:creationId xmlns:a16="http://schemas.microsoft.com/office/drawing/2014/main" id="{BCBE5BC2-2D00-3B37-3960-C5595CAEA9ED}"/>
              </a:ext>
            </a:extLst>
          </p:cNvPr>
          <p:cNvSpPr txBox="1"/>
          <p:nvPr/>
        </p:nvSpPr>
        <p:spPr>
          <a:xfrm>
            <a:off x="4721136" y="6531390"/>
            <a:ext cx="2085827" cy="246221"/>
          </a:xfrm>
          <a:prstGeom prst="rect">
            <a:avLst/>
          </a:prstGeom>
          <a:noFill/>
        </p:spPr>
        <p:txBody>
          <a:bodyPr wrap="none" rtlCol="0">
            <a:spAutoFit/>
          </a:bodyPr>
          <a:lstStyle/>
          <a:p>
            <a:r>
              <a:rPr lang="en-US" sz="1000" i="1" dirty="0">
                <a:solidFill>
                  <a:schemeClr val="bg1"/>
                </a:solidFill>
              </a:rPr>
              <a:t>Figure 4: Kubernetes architecture</a:t>
            </a:r>
          </a:p>
        </p:txBody>
      </p:sp>
    </p:spTree>
    <p:extLst>
      <p:ext uri="{BB962C8B-B14F-4D97-AF65-F5344CB8AC3E}">
        <p14:creationId xmlns:p14="http://schemas.microsoft.com/office/powerpoint/2010/main" val="3304068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D9700-0BB9-7C06-2667-FAB4B0369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A6CE4-3BDE-5A4A-9D43-3FD1194885C3}"/>
              </a:ext>
            </a:extLst>
          </p:cNvPr>
          <p:cNvSpPr>
            <a:spLocks noGrp="1"/>
          </p:cNvSpPr>
          <p:nvPr>
            <p:ph type="title"/>
          </p:nvPr>
        </p:nvSpPr>
        <p:spPr>
          <a:xfrm>
            <a:off x="741680" y="430482"/>
            <a:ext cx="10500989" cy="1327464"/>
          </a:xfrm>
        </p:spPr>
        <p:txBody>
          <a:bodyPr anchor="b">
            <a:normAutofit/>
          </a:bodyPr>
          <a:lstStyle/>
          <a:p>
            <a:r>
              <a:rPr lang="en-US" dirty="0"/>
              <a:t>Core </a:t>
            </a:r>
            <a:r>
              <a:rPr lang="en-US" dirty="0" err="1"/>
              <a:t>kubernetes</a:t>
            </a:r>
            <a:r>
              <a:rPr lang="en-US" dirty="0"/>
              <a:t> concepts</a:t>
            </a:r>
          </a:p>
        </p:txBody>
      </p:sp>
      <p:pic>
        <p:nvPicPr>
          <p:cNvPr id="11" name="Content Placeholder 10">
            <a:extLst>
              <a:ext uri="{FF2B5EF4-FFF2-40B4-BE49-F238E27FC236}">
                <a16:creationId xmlns:a16="http://schemas.microsoft.com/office/drawing/2014/main" id="{8B602E54-384D-F3F6-CEB4-73FD1437C10A}"/>
              </a:ext>
            </a:extLst>
          </p:cNvPr>
          <p:cNvPicPr>
            <a:picLocks noGrp="1" noChangeAspect="1"/>
          </p:cNvPicPr>
          <p:nvPr>
            <p:ph sz="quarter" idx="35"/>
          </p:nvPr>
        </p:nvPicPr>
        <p:blipFill>
          <a:blip r:embed="rId3"/>
          <a:stretch>
            <a:fillRect/>
          </a:stretch>
        </p:blipFill>
        <p:spPr>
          <a:xfrm>
            <a:off x="7267700" y="2172600"/>
            <a:ext cx="4426007" cy="3873523"/>
          </a:xfrm>
          <a:prstGeom prst="rect">
            <a:avLst/>
          </a:prstGeom>
        </p:spPr>
      </p:pic>
      <p:sp>
        <p:nvSpPr>
          <p:cNvPr id="4" name="Slide Number Placeholder 3">
            <a:extLst>
              <a:ext uri="{FF2B5EF4-FFF2-40B4-BE49-F238E27FC236}">
                <a16:creationId xmlns:a16="http://schemas.microsoft.com/office/drawing/2014/main" id="{26D8EA75-9AB3-94B9-283E-AE2992C6A546}"/>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12</a:t>
            </a:fld>
            <a:endParaRPr lang="en-US"/>
          </a:p>
        </p:txBody>
      </p:sp>
      <p:graphicFrame>
        <p:nvGraphicFramePr>
          <p:cNvPr id="6" name="Content Placeholder 2">
            <a:extLst>
              <a:ext uri="{FF2B5EF4-FFF2-40B4-BE49-F238E27FC236}">
                <a16:creationId xmlns:a16="http://schemas.microsoft.com/office/drawing/2014/main" id="{CBA75364-9823-FF01-110C-FFEE292427A9}"/>
              </a:ext>
            </a:extLst>
          </p:cNvPr>
          <p:cNvGraphicFramePr>
            <a:graphicFrameLocks noGrp="1"/>
          </p:cNvGraphicFramePr>
          <p:nvPr>
            <p:ph sz="quarter" idx="36"/>
            <p:extLst>
              <p:ext uri="{D42A27DB-BD31-4B8C-83A1-F6EECF244321}">
                <p14:modId xmlns:p14="http://schemas.microsoft.com/office/powerpoint/2010/main" val="278325011"/>
              </p:ext>
            </p:extLst>
          </p:nvPr>
        </p:nvGraphicFramePr>
        <p:xfrm>
          <a:off x="741680" y="2472140"/>
          <a:ext cx="6315069" cy="37237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C7F36566-D8CD-C90A-8EA2-AB01645EAB1F}"/>
              </a:ext>
            </a:extLst>
          </p:cNvPr>
          <p:cNvSpPr txBox="1"/>
          <p:nvPr/>
        </p:nvSpPr>
        <p:spPr>
          <a:xfrm>
            <a:off x="8542785" y="6046123"/>
            <a:ext cx="1922321" cy="246221"/>
          </a:xfrm>
          <a:prstGeom prst="rect">
            <a:avLst/>
          </a:prstGeom>
          <a:noFill/>
        </p:spPr>
        <p:txBody>
          <a:bodyPr wrap="none" rtlCol="0">
            <a:spAutoFit/>
          </a:bodyPr>
          <a:lstStyle/>
          <a:p>
            <a:r>
              <a:rPr lang="en-US" sz="1000" i="1" dirty="0">
                <a:solidFill>
                  <a:schemeClr val="bg1"/>
                </a:solidFill>
              </a:rPr>
              <a:t>Figure 5: Kubernetes flowchart</a:t>
            </a:r>
          </a:p>
        </p:txBody>
      </p:sp>
    </p:spTree>
    <p:extLst>
      <p:ext uri="{BB962C8B-B14F-4D97-AF65-F5344CB8AC3E}">
        <p14:creationId xmlns:p14="http://schemas.microsoft.com/office/powerpoint/2010/main" val="2862780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CFE4B-226A-8CF5-6E29-0CFFF40F5690}"/>
              </a:ext>
            </a:extLst>
          </p:cNvPr>
          <p:cNvSpPr>
            <a:spLocks noGrp="1"/>
          </p:cNvSpPr>
          <p:nvPr>
            <p:ph type="title"/>
          </p:nvPr>
        </p:nvSpPr>
        <p:spPr/>
        <p:txBody>
          <a:bodyPr/>
          <a:lstStyle/>
          <a:p>
            <a:r>
              <a:rPr lang="en-US" dirty="0"/>
              <a:t>Maintaining desired state</a:t>
            </a:r>
          </a:p>
        </p:txBody>
      </p:sp>
      <p:sp>
        <p:nvSpPr>
          <p:cNvPr id="3" name="Content Placeholder 2">
            <a:extLst>
              <a:ext uri="{FF2B5EF4-FFF2-40B4-BE49-F238E27FC236}">
                <a16:creationId xmlns:a16="http://schemas.microsoft.com/office/drawing/2014/main" id="{B55A0329-F6AF-D0E8-1BDB-9CB022B354E9}"/>
              </a:ext>
            </a:extLst>
          </p:cNvPr>
          <p:cNvSpPr>
            <a:spLocks noGrp="1"/>
          </p:cNvSpPr>
          <p:nvPr>
            <p:ph sz="quarter" idx="35"/>
          </p:nvPr>
        </p:nvSpPr>
        <p:spPr>
          <a:xfrm>
            <a:off x="807038" y="2465539"/>
            <a:ext cx="4707937" cy="3723753"/>
          </a:xfrm>
        </p:spPr>
        <p:txBody>
          <a:bodyPr/>
          <a:lstStyle/>
          <a:p>
            <a:pPr marL="0" indent="0">
              <a:buNone/>
            </a:pPr>
            <a:r>
              <a:rPr lang="en-US" dirty="0"/>
              <a:t>Reconciliation loop:</a:t>
            </a:r>
          </a:p>
          <a:p>
            <a:pPr marL="285750" indent="-285750">
              <a:buFont typeface="Arial" panose="020B0604020202020204" pitchFamily="34" charset="0"/>
              <a:buChar char="•"/>
            </a:pPr>
            <a:r>
              <a:rPr lang="en-US" dirty="0"/>
              <a:t>User defines YAML manifest</a:t>
            </a:r>
          </a:p>
          <a:p>
            <a:pPr marL="285750" indent="-285750">
              <a:buFont typeface="Arial" panose="020B0604020202020204" pitchFamily="34" charset="0"/>
              <a:buChar char="•"/>
            </a:pPr>
            <a:r>
              <a:rPr lang="en-US" dirty="0"/>
              <a:t>API Server stores state in </a:t>
            </a:r>
            <a:r>
              <a:rPr lang="en-US" dirty="0" err="1"/>
              <a:t>etcd</a:t>
            </a:r>
            <a:endParaRPr lang="en-US" dirty="0"/>
          </a:p>
          <a:p>
            <a:pPr marL="285750" indent="-285750">
              <a:buFont typeface="Arial" panose="020B0604020202020204" pitchFamily="34" charset="0"/>
              <a:buChar char="•"/>
            </a:pPr>
            <a:r>
              <a:rPr lang="en-US" dirty="0"/>
              <a:t>Controllers detect differences</a:t>
            </a:r>
          </a:p>
          <a:p>
            <a:pPr marL="285750" indent="-285750">
              <a:buFont typeface="Arial" panose="020B0604020202020204" pitchFamily="34" charset="0"/>
              <a:buChar char="•"/>
            </a:pPr>
            <a:r>
              <a:rPr lang="en-US" dirty="0"/>
              <a:t>Scheduler assigns pods, </a:t>
            </a:r>
            <a:r>
              <a:rPr lang="en-US" dirty="0" err="1"/>
              <a:t>kubelet</a:t>
            </a:r>
            <a:r>
              <a:rPr lang="en-US" dirty="0"/>
              <a:t> monitors</a:t>
            </a:r>
          </a:p>
          <a:p>
            <a:pPr marL="285750" indent="-285750">
              <a:buFont typeface="Arial" panose="020B0604020202020204" pitchFamily="34" charset="0"/>
              <a:buChar char="•"/>
            </a:pPr>
            <a:r>
              <a:rPr lang="en-US" dirty="0"/>
              <a:t>Loop repeats until desired state matches</a:t>
            </a:r>
          </a:p>
        </p:txBody>
      </p:sp>
      <p:sp>
        <p:nvSpPr>
          <p:cNvPr id="5" name="Slide Number Placeholder 4">
            <a:extLst>
              <a:ext uri="{FF2B5EF4-FFF2-40B4-BE49-F238E27FC236}">
                <a16:creationId xmlns:a16="http://schemas.microsoft.com/office/drawing/2014/main" id="{708BE035-BFBE-4130-7E3A-34E8A4014B4F}"/>
              </a:ext>
            </a:extLst>
          </p:cNvPr>
          <p:cNvSpPr>
            <a:spLocks noGrp="1"/>
          </p:cNvSpPr>
          <p:nvPr>
            <p:ph type="sldNum" sz="quarter" idx="12"/>
          </p:nvPr>
        </p:nvSpPr>
        <p:spPr/>
        <p:txBody>
          <a:bodyPr/>
          <a:lstStyle/>
          <a:p>
            <a:fld id="{FE024F78-56A6-7740-B68D-8D4D026EDF3F}" type="slidenum">
              <a:rPr lang="en-US" smtClean="0"/>
              <a:pPr/>
              <a:t>13</a:t>
            </a:fld>
            <a:endParaRPr lang="en-US" dirty="0"/>
          </a:p>
        </p:txBody>
      </p:sp>
      <p:pic>
        <p:nvPicPr>
          <p:cNvPr id="16" name="Content Placeholder 15" descr="A diagram of a software application&#10;&#10;AI-generated content may be incorrect.">
            <a:extLst>
              <a:ext uri="{FF2B5EF4-FFF2-40B4-BE49-F238E27FC236}">
                <a16:creationId xmlns:a16="http://schemas.microsoft.com/office/drawing/2014/main" id="{BA90A4E5-B77E-58D4-6816-6170BEDA541A}"/>
              </a:ext>
            </a:extLst>
          </p:cNvPr>
          <p:cNvPicPr>
            <a:picLocks noGrp="1" noChangeAspect="1"/>
          </p:cNvPicPr>
          <p:nvPr>
            <p:ph sz="quarter" idx="36"/>
          </p:nvPr>
        </p:nvPicPr>
        <p:blipFill>
          <a:blip r:embed="rId3"/>
          <a:stretch>
            <a:fillRect/>
          </a:stretch>
        </p:blipFill>
        <p:spPr>
          <a:xfrm>
            <a:off x="6096000" y="2129934"/>
            <a:ext cx="5162550" cy="3724275"/>
          </a:xfrm>
        </p:spPr>
      </p:pic>
    </p:spTree>
    <p:extLst>
      <p:ext uri="{BB962C8B-B14F-4D97-AF65-F5344CB8AC3E}">
        <p14:creationId xmlns:p14="http://schemas.microsoft.com/office/powerpoint/2010/main" val="2698760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2">
            <a:extLst>
              <a:ext uri="{FF2B5EF4-FFF2-40B4-BE49-F238E27FC236}">
                <a16:creationId xmlns:a16="http://schemas.microsoft.com/office/drawing/2014/main" id="{0CCE247C-91F4-0209-5CC0-14EA8B1D4839}"/>
              </a:ext>
            </a:extLst>
          </p:cNvPr>
          <p:cNvSpPr>
            <a:spLocks noGrp="1"/>
          </p:cNvSpPr>
          <p:nvPr>
            <p:ph type="title"/>
          </p:nvPr>
        </p:nvSpPr>
        <p:spPr>
          <a:xfrm>
            <a:off x="3" y="1821180"/>
            <a:ext cx="12191994" cy="3215641"/>
          </a:xfrm>
        </p:spPr>
        <p:txBody>
          <a:bodyPr anchor="ctr">
            <a:normAutofit/>
          </a:bodyPr>
          <a:lstStyle/>
          <a:p>
            <a:r>
              <a:rPr lang="en-US" dirty="0"/>
              <a:t>Getting started</a:t>
            </a:r>
          </a:p>
        </p:txBody>
      </p:sp>
      <p:sp>
        <p:nvSpPr>
          <p:cNvPr id="5" name="Slide Number Placeholder 4" hidden="1">
            <a:extLst>
              <a:ext uri="{FF2B5EF4-FFF2-40B4-BE49-F238E27FC236}">
                <a16:creationId xmlns:a16="http://schemas.microsoft.com/office/drawing/2014/main" id="{1EB72F1D-73D9-99CA-509B-56A5DA6F7816}"/>
              </a:ext>
            </a:extLst>
          </p:cNvPr>
          <p:cNvSpPr>
            <a:spLocks noGrp="1"/>
          </p:cNvSpPr>
          <p:nvPr>
            <p:ph type="sldNum" sz="quarter" idx="4294967295"/>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14</a:t>
            </a:fld>
            <a:endParaRPr lang="en-US"/>
          </a:p>
        </p:txBody>
      </p:sp>
    </p:spTree>
    <p:extLst>
      <p:ext uri="{BB962C8B-B14F-4D97-AF65-F5344CB8AC3E}">
        <p14:creationId xmlns:p14="http://schemas.microsoft.com/office/powerpoint/2010/main" val="506345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05E1207-26F6-B5C7-CE65-E85C5C5D9422}"/>
              </a:ext>
            </a:extLst>
          </p:cNvPr>
          <p:cNvSpPr>
            <a:spLocks noGrp="1"/>
          </p:cNvSpPr>
          <p:nvPr>
            <p:ph type="title"/>
          </p:nvPr>
        </p:nvSpPr>
        <p:spPr>
          <a:xfrm>
            <a:off x="733562" y="433906"/>
            <a:ext cx="10515601" cy="1327464"/>
          </a:xfrm>
        </p:spPr>
        <p:txBody>
          <a:bodyPr/>
          <a:lstStyle/>
          <a:p>
            <a:r>
              <a:rPr lang="en-US" dirty="0"/>
              <a:t>Resources</a:t>
            </a:r>
          </a:p>
        </p:txBody>
      </p:sp>
      <p:sp>
        <p:nvSpPr>
          <p:cNvPr id="11" name="Content Placeholder 2">
            <a:extLst>
              <a:ext uri="{FF2B5EF4-FFF2-40B4-BE49-F238E27FC236}">
                <a16:creationId xmlns:a16="http://schemas.microsoft.com/office/drawing/2014/main" id="{9098F777-66B2-27E4-04B6-E2F96686B8E8}"/>
              </a:ext>
            </a:extLst>
          </p:cNvPr>
          <p:cNvSpPr>
            <a:spLocks noGrp="1"/>
          </p:cNvSpPr>
          <p:nvPr>
            <p:ph sz="quarter" idx="36"/>
          </p:nvPr>
        </p:nvSpPr>
        <p:spPr>
          <a:xfrm>
            <a:off x="814302" y="2465535"/>
            <a:ext cx="7303538" cy="3427265"/>
          </a:xfrm>
        </p:spPr>
        <p:txBody>
          <a:bodyPr/>
          <a:lstStyle/>
          <a:p>
            <a:r>
              <a:rPr lang="en-US" dirty="0"/>
              <a:t>Official Kubernetes docs: </a:t>
            </a:r>
            <a:r>
              <a:rPr lang="en-US" dirty="0">
                <a:hlinkClick r:id="rId3"/>
              </a:rPr>
              <a:t>https://kubernetes.io/docs/home/</a:t>
            </a:r>
            <a:endParaRPr lang="en-US" dirty="0"/>
          </a:p>
          <a:p>
            <a:r>
              <a:rPr lang="en-US" dirty="0"/>
              <a:t>Interactive tutorials: </a:t>
            </a:r>
            <a:r>
              <a:rPr lang="en-US" dirty="0" err="1"/>
              <a:t>Katacoda</a:t>
            </a:r>
            <a:endParaRPr lang="en-US" dirty="0"/>
          </a:p>
          <a:p>
            <a:r>
              <a:rPr lang="en-US" dirty="0"/>
              <a:t>Books: </a:t>
            </a:r>
            <a:r>
              <a:rPr lang="en-US" i="1" dirty="0"/>
              <a:t>Kubernetes Up &amp; Running (Hightower et al.)</a:t>
            </a:r>
          </a:p>
          <a:p>
            <a:r>
              <a:rPr lang="en-US" dirty="0"/>
              <a:t>CNCF reports and community blogs</a:t>
            </a:r>
          </a:p>
        </p:txBody>
      </p:sp>
      <p:pic>
        <p:nvPicPr>
          <p:cNvPr id="5" name="Content Placeholder 4">
            <a:extLst>
              <a:ext uri="{FF2B5EF4-FFF2-40B4-BE49-F238E27FC236}">
                <a16:creationId xmlns:a16="http://schemas.microsoft.com/office/drawing/2014/main" id="{D55DAE22-E0BC-46DE-A3E4-7BE5ACE2099B}"/>
              </a:ext>
            </a:extLst>
          </p:cNvPr>
          <p:cNvPicPr>
            <a:picLocks noGrp="1" noChangeAspect="1"/>
          </p:cNvPicPr>
          <p:nvPr>
            <p:ph sz="quarter" idx="37"/>
          </p:nvPr>
        </p:nvPicPr>
        <p:blipFill>
          <a:blip r:embed="rId4"/>
          <a:stretch>
            <a:fillRect/>
          </a:stretch>
        </p:blipFill>
        <p:spPr>
          <a:xfrm>
            <a:off x="8391525" y="2790991"/>
            <a:ext cx="2857500" cy="2776205"/>
          </a:xfrm>
          <a:prstGeom prst="rect">
            <a:avLst/>
          </a:prstGeom>
        </p:spPr>
      </p:pic>
      <p:sp>
        <p:nvSpPr>
          <p:cNvPr id="4" name="Slide Number Placeholder 3">
            <a:extLst>
              <a:ext uri="{FF2B5EF4-FFF2-40B4-BE49-F238E27FC236}">
                <a16:creationId xmlns:a16="http://schemas.microsoft.com/office/drawing/2014/main" id="{E101D3CD-5FF7-4A09-B809-56B77731AE4C}"/>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15</a:t>
            </a:fld>
            <a:endParaRPr lang="en-US"/>
          </a:p>
        </p:txBody>
      </p:sp>
    </p:spTree>
    <p:extLst>
      <p:ext uri="{BB962C8B-B14F-4D97-AF65-F5344CB8AC3E}">
        <p14:creationId xmlns:p14="http://schemas.microsoft.com/office/powerpoint/2010/main" val="1999614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CE1ABEC8-43FD-4F21-A7D2-70200D86263C}"/>
              </a:ext>
            </a:extLst>
          </p:cNvPr>
          <p:cNvSpPr>
            <a:spLocks noGrp="1"/>
          </p:cNvSpPr>
          <p:nvPr>
            <p:ph type="title"/>
          </p:nvPr>
        </p:nvSpPr>
        <p:spPr>
          <a:xfrm>
            <a:off x="3" y="1821180"/>
            <a:ext cx="12191994" cy="3215641"/>
          </a:xfrm>
        </p:spPr>
        <p:txBody>
          <a:bodyPr anchor="ctr">
            <a:normAutofit/>
          </a:bodyPr>
          <a:lstStyle/>
          <a:p>
            <a:r>
              <a:rPr lang="en-US" dirty="0"/>
              <a:t>THANK YOU</a:t>
            </a:r>
          </a:p>
        </p:txBody>
      </p:sp>
    </p:spTree>
    <p:extLst>
      <p:ext uri="{BB962C8B-B14F-4D97-AF65-F5344CB8AC3E}">
        <p14:creationId xmlns:p14="http://schemas.microsoft.com/office/powerpoint/2010/main" val="2395464980"/>
      </p:ext>
    </p:extLst>
  </p:cSld>
  <p:clrMapOvr>
    <a:masterClrMapping/>
  </p:clrMapOvr>
</p:sld>
</file>

<file path=ppt/theme/theme1.xml><?xml version="1.0" encoding="utf-8"?>
<a:theme xmlns:a="http://schemas.openxmlformats.org/drawingml/2006/main" name="Custom">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Custom 15">
      <a:majorFont>
        <a:latin typeface="Biome"/>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36837_win32_SL_V11" id="{EAD6EF7B-6F25-4469-AF6A-07D6EB1461DD}" vid="{30FEA78B-2F89-4FF0-8415-E3920802C5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05301E-11B3-4B9D-A588-21F3C980937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4137456-21FC-4AE2-8A94-BF06CAF2EB9B}">
  <ds:schemaRefs>
    <ds:schemaRef ds:uri="http://schemas.microsoft.com/sharepoint/v3/contenttype/forms"/>
  </ds:schemaRefs>
</ds:datastoreItem>
</file>

<file path=customXml/itemProps3.xml><?xml version="1.0" encoding="utf-8"?>
<ds:datastoreItem xmlns:ds="http://schemas.openxmlformats.org/officeDocument/2006/customXml" ds:itemID="{C77B561B-3A65-4A22-9691-EB838E7F9B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{74FD534C-0DC8-45C4-8B22-60FC4D740916}TFe8699e8e-689b-4d7e-abcf-e888fd749829db3118dc_win32-d573b439b56f</Template>
  <TotalTime>210</TotalTime>
  <Words>1782</Words>
  <Application>Microsoft Office PowerPoint</Application>
  <PresentationFormat>Widescreen</PresentationFormat>
  <Paragraphs>168</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Nova</vt:lpstr>
      <vt:lpstr>Biome</vt:lpstr>
      <vt:lpstr>Calibri</vt:lpstr>
      <vt:lpstr>Custom</vt:lpstr>
      <vt:lpstr>Kubernetes essentials</vt:lpstr>
      <vt:lpstr>Agenda</vt:lpstr>
      <vt:lpstr>Why Kubernetes?</vt:lpstr>
      <vt:lpstr>Origins of kubernetes </vt:lpstr>
      <vt:lpstr>Challenges Kubernetes solves</vt:lpstr>
      <vt:lpstr>Why is it still relevant?</vt:lpstr>
      <vt:lpstr>Alternative tools</vt:lpstr>
      <vt:lpstr>Why Kubernetes stands out?</vt:lpstr>
      <vt:lpstr>Choosing kubernetes</vt:lpstr>
      <vt:lpstr>How Kubernetes work?</vt:lpstr>
      <vt:lpstr>Kubernetes architecture</vt:lpstr>
      <vt:lpstr>Core kubernetes concepts</vt:lpstr>
      <vt:lpstr>Maintaining desired state</vt:lpstr>
      <vt:lpstr>Getting started</vt:lpstr>
      <vt:lpstr>Resources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Danciu,Robert R.I.</dc:creator>
  <cp:lastModifiedBy>Danciu,Robert R.I.</cp:lastModifiedBy>
  <cp:revision>4</cp:revision>
  <dcterms:created xsi:type="dcterms:W3CDTF">2025-11-09T21:22:38Z</dcterms:created>
  <dcterms:modified xsi:type="dcterms:W3CDTF">2025-11-15T16:30:58Z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