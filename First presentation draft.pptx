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42" r:id="rId5"/>
    <p:sldId id="359" r:id="rId6"/>
    <p:sldId id="373" r:id="rId7"/>
    <p:sldId id="374" r:id="rId8"/>
    <p:sldId id="375" r:id="rId9"/>
    <p:sldId id="365" r:id="rId10"/>
    <p:sldId id="377" r:id="rId11"/>
    <p:sldId id="378" r:id="rId12"/>
    <p:sldId id="379" r:id="rId13"/>
    <p:sldId id="380" r:id="rId14"/>
    <p:sldId id="381" r:id="rId15"/>
    <p:sldId id="382" r:id="rId16"/>
    <p:sldId id="383" r:id="rId17"/>
    <p:sldId id="3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 showGuides="1">
      <p:cViewPr>
        <p:scale>
          <a:sx n="100" d="100"/>
          <a:sy n="100" d="100"/>
        </p:scale>
        <p:origin x="96" y="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3C9E49-BC37-431E-B11E-816252B629AC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C0F711E-37A3-4DE4-85A9-9A1493EEAE10}">
      <dgm:prSet/>
      <dgm:spPr/>
      <dgm:t>
        <a:bodyPr/>
        <a:lstStyle/>
        <a:p>
          <a:r>
            <a:rPr lang="en-US" dirty="0"/>
            <a:t>Pods: Smallest deployable unit</a:t>
          </a:r>
        </a:p>
      </dgm:t>
    </dgm:pt>
    <dgm:pt modelId="{8C1694CE-55DD-493B-B96E-FCCBB3E3E46A}" type="parTrans" cxnId="{96B76251-83B3-425E-82E3-A34018E75166}">
      <dgm:prSet/>
      <dgm:spPr/>
      <dgm:t>
        <a:bodyPr/>
        <a:lstStyle/>
        <a:p>
          <a:endParaRPr lang="en-US"/>
        </a:p>
      </dgm:t>
    </dgm:pt>
    <dgm:pt modelId="{508922A1-50A8-4F14-A1A1-8F28794C2681}" type="sibTrans" cxnId="{96B76251-83B3-425E-82E3-A34018E75166}">
      <dgm:prSet/>
      <dgm:spPr/>
      <dgm:t>
        <a:bodyPr/>
        <a:lstStyle/>
        <a:p>
          <a:endParaRPr lang="en-US"/>
        </a:p>
      </dgm:t>
    </dgm:pt>
    <dgm:pt modelId="{EE55809E-1436-4416-B219-C313959B3161}">
      <dgm:prSet/>
      <dgm:spPr/>
      <dgm:t>
        <a:bodyPr/>
        <a:lstStyle/>
        <a:p>
          <a:endParaRPr lang="en-US" dirty="0"/>
        </a:p>
      </dgm:t>
    </dgm:pt>
    <dgm:pt modelId="{805A8ABC-AE1C-40E3-905A-A28E5FBDAB73}" type="parTrans" cxnId="{1D462106-A5ED-454C-8C70-CE70A471A33B}">
      <dgm:prSet/>
      <dgm:spPr/>
      <dgm:t>
        <a:bodyPr/>
        <a:lstStyle/>
        <a:p>
          <a:endParaRPr lang="en-US"/>
        </a:p>
      </dgm:t>
    </dgm:pt>
    <dgm:pt modelId="{A4A11723-74DE-400C-B442-23E70DC0A576}" type="sibTrans" cxnId="{1D462106-A5ED-454C-8C70-CE70A471A33B}">
      <dgm:prSet/>
      <dgm:spPr/>
      <dgm:t>
        <a:bodyPr/>
        <a:lstStyle/>
        <a:p>
          <a:endParaRPr lang="en-US"/>
        </a:p>
      </dgm:t>
    </dgm:pt>
    <dgm:pt modelId="{6935E605-5144-4C88-8ABF-38A76973D6C6}">
      <dgm:prSet/>
      <dgm:spPr/>
      <dgm:t>
        <a:bodyPr/>
        <a:lstStyle/>
        <a:p>
          <a:r>
            <a:rPr lang="en-US" dirty="0"/>
            <a:t>Deployments: Manage replicas and updates</a:t>
          </a:r>
        </a:p>
      </dgm:t>
    </dgm:pt>
    <dgm:pt modelId="{FD76121D-D82E-485C-8BF2-17C9B295E959}" type="parTrans" cxnId="{C9EE7683-1D31-43E5-94C2-D94D68C52958}">
      <dgm:prSet/>
      <dgm:spPr/>
      <dgm:t>
        <a:bodyPr/>
        <a:lstStyle/>
        <a:p>
          <a:endParaRPr lang="en-US"/>
        </a:p>
      </dgm:t>
    </dgm:pt>
    <dgm:pt modelId="{3C4897AD-128D-430E-ADFE-2013992B96EF}" type="sibTrans" cxnId="{C9EE7683-1D31-43E5-94C2-D94D68C52958}">
      <dgm:prSet/>
      <dgm:spPr/>
      <dgm:t>
        <a:bodyPr/>
        <a:lstStyle/>
        <a:p>
          <a:endParaRPr lang="en-US"/>
        </a:p>
      </dgm:t>
    </dgm:pt>
    <dgm:pt modelId="{478CD3C7-F820-494F-AC99-5F4CD2602D4B}">
      <dgm:prSet/>
      <dgm:spPr/>
      <dgm:t>
        <a:bodyPr/>
        <a:lstStyle/>
        <a:p>
          <a:endParaRPr lang="en-US" dirty="0"/>
        </a:p>
      </dgm:t>
    </dgm:pt>
    <dgm:pt modelId="{5B2F402F-0AE5-44DF-9353-46504BDB7AD5}" type="parTrans" cxnId="{DF1C7F91-2019-4494-BE0E-075E18B21AA1}">
      <dgm:prSet/>
      <dgm:spPr/>
      <dgm:t>
        <a:bodyPr/>
        <a:lstStyle/>
        <a:p>
          <a:endParaRPr lang="en-US"/>
        </a:p>
      </dgm:t>
    </dgm:pt>
    <dgm:pt modelId="{7E0EDA72-0FDB-4B7F-A846-EAF9DECEB22B}" type="sibTrans" cxnId="{DF1C7F91-2019-4494-BE0E-075E18B21AA1}">
      <dgm:prSet/>
      <dgm:spPr/>
      <dgm:t>
        <a:bodyPr/>
        <a:lstStyle/>
        <a:p>
          <a:endParaRPr lang="en-US"/>
        </a:p>
      </dgm:t>
    </dgm:pt>
    <dgm:pt modelId="{567EED3E-4F53-44BC-B503-A9ED381AB879}">
      <dgm:prSet/>
      <dgm:spPr/>
      <dgm:t>
        <a:bodyPr/>
        <a:lstStyle/>
        <a:p>
          <a:r>
            <a:rPr lang="en-US" dirty="0" err="1"/>
            <a:t>ReplicaSets</a:t>
          </a:r>
          <a:r>
            <a:rPr lang="en-US" dirty="0"/>
            <a:t>: Maintain desired pod count </a:t>
          </a:r>
        </a:p>
      </dgm:t>
    </dgm:pt>
    <dgm:pt modelId="{EECA3B1F-1F37-491B-9966-36865E77D868}" type="parTrans" cxnId="{3468BA5F-0E74-44C4-83A3-A7CA593C4166}">
      <dgm:prSet/>
      <dgm:spPr/>
      <dgm:t>
        <a:bodyPr/>
        <a:lstStyle/>
        <a:p>
          <a:endParaRPr lang="en-US"/>
        </a:p>
      </dgm:t>
    </dgm:pt>
    <dgm:pt modelId="{5C30454C-46E6-40EF-A978-7F02DE849D50}" type="sibTrans" cxnId="{3468BA5F-0E74-44C4-83A3-A7CA593C4166}">
      <dgm:prSet/>
      <dgm:spPr/>
      <dgm:t>
        <a:bodyPr/>
        <a:lstStyle/>
        <a:p>
          <a:endParaRPr lang="en-US"/>
        </a:p>
      </dgm:t>
    </dgm:pt>
    <dgm:pt modelId="{F91F59E1-00FC-4469-8E47-81291E498206}">
      <dgm:prSet/>
      <dgm:spPr/>
      <dgm:t>
        <a:bodyPr/>
        <a:lstStyle/>
        <a:p>
          <a:endParaRPr lang="en-US" dirty="0"/>
        </a:p>
      </dgm:t>
    </dgm:pt>
    <dgm:pt modelId="{F699B9A3-8798-4E63-9CC6-F687C7ECF1F8}" type="parTrans" cxnId="{8FAAFD40-F6AA-4FBC-819F-628A7AB6C3C1}">
      <dgm:prSet/>
      <dgm:spPr/>
      <dgm:t>
        <a:bodyPr/>
        <a:lstStyle/>
        <a:p>
          <a:endParaRPr lang="en-US"/>
        </a:p>
      </dgm:t>
    </dgm:pt>
    <dgm:pt modelId="{C9D5ECDF-9EFD-4C88-876E-738BE55B18A7}" type="sibTrans" cxnId="{8FAAFD40-F6AA-4FBC-819F-628A7AB6C3C1}">
      <dgm:prSet/>
      <dgm:spPr/>
      <dgm:t>
        <a:bodyPr/>
        <a:lstStyle/>
        <a:p>
          <a:endParaRPr lang="en-US"/>
        </a:p>
      </dgm:t>
    </dgm:pt>
    <dgm:pt modelId="{40327E34-5B8E-4861-B94C-DE9A16B0A81F}">
      <dgm:prSet/>
      <dgm:spPr/>
      <dgm:t>
        <a:bodyPr/>
        <a:lstStyle/>
        <a:p>
          <a:r>
            <a:rPr lang="en-US" dirty="0"/>
            <a:t>Services &amp; Ingress: Networking &amp; access</a:t>
          </a:r>
        </a:p>
      </dgm:t>
    </dgm:pt>
    <dgm:pt modelId="{4A10A67F-861A-419D-B52E-A92F984B71C7}" type="parTrans" cxnId="{763BC8A3-E564-49D4-B7B3-4FB6B07A189A}">
      <dgm:prSet/>
      <dgm:spPr/>
      <dgm:t>
        <a:bodyPr/>
        <a:lstStyle/>
        <a:p>
          <a:endParaRPr lang="en-US"/>
        </a:p>
      </dgm:t>
    </dgm:pt>
    <dgm:pt modelId="{07622825-B609-48CF-ACBC-99BE53FE648F}" type="sibTrans" cxnId="{763BC8A3-E564-49D4-B7B3-4FB6B07A189A}">
      <dgm:prSet/>
      <dgm:spPr/>
      <dgm:t>
        <a:bodyPr/>
        <a:lstStyle/>
        <a:p>
          <a:endParaRPr lang="en-US"/>
        </a:p>
      </dgm:t>
    </dgm:pt>
    <dgm:pt modelId="{70241BB9-8951-4C6A-B2FC-D97E88D89137}">
      <dgm:prSet/>
      <dgm:spPr/>
      <dgm:t>
        <a:bodyPr/>
        <a:lstStyle/>
        <a:p>
          <a:endParaRPr lang="en-US" dirty="0"/>
        </a:p>
      </dgm:t>
    </dgm:pt>
    <dgm:pt modelId="{839AF62C-C28A-4515-8B5A-DF69018A7714}" type="parTrans" cxnId="{466AEA6C-0183-41A0-85CF-137066049E6D}">
      <dgm:prSet/>
      <dgm:spPr/>
      <dgm:t>
        <a:bodyPr/>
        <a:lstStyle/>
        <a:p>
          <a:endParaRPr lang="en-US"/>
        </a:p>
      </dgm:t>
    </dgm:pt>
    <dgm:pt modelId="{70FACA5B-8DDC-4746-9979-E4D93D7082D0}" type="sibTrans" cxnId="{466AEA6C-0183-41A0-85CF-137066049E6D}">
      <dgm:prSet/>
      <dgm:spPr/>
      <dgm:t>
        <a:bodyPr/>
        <a:lstStyle/>
        <a:p>
          <a:endParaRPr lang="en-US"/>
        </a:p>
      </dgm:t>
    </dgm:pt>
    <dgm:pt modelId="{46F282E6-1002-4F44-AB03-99F66078FF72}">
      <dgm:prSet/>
      <dgm:spPr/>
      <dgm:t>
        <a:bodyPr/>
        <a:lstStyle/>
        <a:p>
          <a:r>
            <a:rPr lang="en-US" dirty="0" err="1"/>
            <a:t>ConfigMaps</a:t>
          </a:r>
          <a:r>
            <a:rPr lang="en-US" dirty="0"/>
            <a:t> &amp; Secrets: Configuration and sensitive data</a:t>
          </a:r>
        </a:p>
      </dgm:t>
    </dgm:pt>
    <dgm:pt modelId="{FE54025C-12BD-4923-8631-83E2A1391BD5}" type="parTrans" cxnId="{18973F29-207D-4E02-9196-16052D4572FA}">
      <dgm:prSet/>
      <dgm:spPr/>
      <dgm:t>
        <a:bodyPr/>
        <a:lstStyle/>
        <a:p>
          <a:endParaRPr lang="en-US"/>
        </a:p>
      </dgm:t>
    </dgm:pt>
    <dgm:pt modelId="{64A623E3-C472-40B1-BA5D-8C5212EA620E}" type="sibTrans" cxnId="{18973F29-207D-4E02-9196-16052D4572FA}">
      <dgm:prSet/>
      <dgm:spPr/>
      <dgm:t>
        <a:bodyPr/>
        <a:lstStyle/>
        <a:p>
          <a:endParaRPr lang="en-US"/>
        </a:p>
      </dgm:t>
    </dgm:pt>
    <dgm:pt modelId="{7B814178-A230-49C3-853A-EEF22E283125}">
      <dgm:prSet/>
      <dgm:spPr/>
      <dgm:t>
        <a:bodyPr/>
        <a:lstStyle/>
        <a:p>
          <a:endParaRPr lang="en-US" dirty="0"/>
        </a:p>
      </dgm:t>
    </dgm:pt>
    <dgm:pt modelId="{525A1B62-D582-4166-8F00-53265ECE9FDF}" type="parTrans" cxnId="{2DAFB6F5-F818-42CC-A86C-390172EE8764}">
      <dgm:prSet/>
      <dgm:spPr/>
      <dgm:t>
        <a:bodyPr/>
        <a:lstStyle/>
        <a:p>
          <a:endParaRPr lang="en-US"/>
        </a:p>
      </dgm:t>
    </dgm:pt>
    <dgm:pt modelId="{887C3E25-B2E3-42FE-A2CB-C7B09F3D605F}" type="sibTrans" cxnId="{2DAFB6F5-F818-42CC-A86C-390172EE8764}">
      <dgm:prSet/>
      <dgm:spPr/>
      <dgm:t>
        <a:bodyPr/>
        <a:lstStyle/>
        <a:p>
          <a:endParaRPr lang="en-US"/>
        </a:p>
      </dgm:t>
    </dgm:pt>
    <dgm:pt modelId="{9CA01B4D-290A-4470-956B-DCAA29E529F9}">
      <dgm:prSet/>
      <dgm:spPr/>
      <dgm:t>
        <a:bodyPr/>
        <a:lstStyle/>
        <a:p>
          <a:r>
            <a:rPr lang="en-US" dirty="0" err="1"/>
            <a:t>PersistentVolumes</a:t>
          </a:r>
          <a:r>
            <a:rPr lang="en-US" dirty="0"/>
            <a:t> &amp; Claims: Persistent storage</a:t>
          </a:r>
        </a:p>
      </dgm:t>
    </dgm:pt>
    <dgm:pt modelId="{2A4FC775-DC4A-47FB-8EAB-A3C6925284B1}" type="parTrans" cxnId="{4059EFD8-CDED-4B59-AE53-AB8014837A05}">
      <dgm:prSet/>
      <dgm:spPr/>
      <dgm:t>
        <a:bodyPr/>
        <a:lstStyle/>
        <a:p>
          <a:endParaRPr lang="en-US"/>
        </a:p>
      </dgm:t>
    </dgm:pt>
    <dgm:pt modelId="{6B9E4160-0B89-406B-B105-7EF28003F605}" type="sibTrans" cxnId="{4059EFD8-CDED-4B59-AE53-AB8014837A05}">
      <dgm:prSet/>
      <dgm:spPr/>
      <dgm:t>
        <a:bodyPr/>
        <a:lstStyle/>
        <a:p>
          <a:endParaRPr lang="en-US"/>
        </a:p>
      </dgm:t>
    </dgm:pt>
    <dgm:pt modelId="{B73DFD77-E9AB-424F-919F-B3746ECEDDAA}">
      <dgm:prSet/>
      <dgm:spPr/>
      <dgm:t>
        <a:bodyPr/>
        <a:lstStyle/>
        <a:p>
          <a:endParaRPr lang="en-US" dirty="0"/>
        </a:p>
      </dgm:t>
    </dgm:pt>
    <dgm:pt modelId="{10253826-FA0D-4489-91FF-A52999C26B0D}" type="parTrans" cxnId="{940FB884-459A-45AC-9563-FA4942EAC9F8}">
      <dgm:prSet/>
      <dgm:spPr/>
      <dgm:t>
        <a:bodyPr/>
        <a:lstStyle/>
        <a:p>
          <a:endParaRPr lang="en-US"/>
        </a:p>
      </dgm:t>
    </dgm:pt>
    <dgm:pt modelId="{3C74506D-9D60-4607-AC1B-FF0962C18C8A}" type="sibTrans" cxnId="{940FB884-459A-45AC-9563-FA4942EAC9F8}">
      <dgm:prSet/>
      <dgm:spPr/>
      <dgm:t>
        <a:bodyPr/>
        <a:lstStyle/>
        <a:p>
          <a:endParaRPr lang="en-US"/>
        </a:p>
      </dgm:t>
    </dgm:pt>
    <dgm:pt modelId="{EFBE6527-E991-4FA1-A069-03799C04460C}" type="pres">
      <dgm:prSet presAssocID="{CF3C9E49-BC37-431E-B11E-816252B629AC}" presName="linear" presStyleCnt="0">
        <dgm:presLayoutVars>
          <dgm:animLvl val="lvl"/>
          <dgm:resizeHandles val="exact"/>
        </dgm:presLayoutVars>
      </dgm:prSet>
      <dgm:spPr/>
    </dgm:pt>
    <dgm:pt modelId="{9F166ED7-A03C-4F14-9118-A06103B1CB23}" type="pres">
      <dgm:prSet presAssocID="{9C0F711E-37A3-4DE4-85A9-9A1493EEAE1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DBEF8B5-F043-43ED-94CD-AD06AAF0FFD3}" type="pres">
      <dgm:prSet presAssocID="{9C0F711E-37A3-4DE4-85A9-9A1493EEAE10}" presName="childText" presStyleLbl="revTx" presStyleIdx="0" presStyleCnt="6">
        <dgm:presLayoutVars>
          <dgm:bulletEnabled val="1"/>
        </dgm:presLayoutVars>
      </dgm:prSet>
      <dgm:spPr/>
    </dgm:pt>
    <dgm:pt modelId="{D7ACEF95-5583-4D6B-82B7-679682269DCC}" type="pres">
      <dgm:prSet presAssocID="{6935E605-5144-4C88-8ABF-38A76973D6C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1ECC71A-401C-4D96-8E60-F425B4CC7AD9}" type="pres">
      <dgm:prSet presAssocID="{6935E605-5144-4C88-8ABF-38A76973D6C6}" presName="childText" presStyleLbl="revTx" presStyleIdx="1" presStyleCnt="6">
        <dgm:presLayoutVars>
          <dgm:bulletEnabled val="1"/>
        </dgm:presLayoutVars>
      </dgm:prSet>
      <dgm:spPr/>
    </dgm:pt>
    <dgm:pt modelId="{05BC7DB3-6654-47E8-9A12-54A08F067A68}" type="pres">
      <dgm:prSet presAssocID="{567EED3E-4F53-44BC-B503-A9ED381AB87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213BD7A-97F2-4339-B964-C6906069DDBF}" type="pres">
      <dgm:prSet presAssocID="{567EED3E-4F53-44BC-B503-A9ED381AB879}" presName="childText" presStyleLbl="revTx" presStyleIdx="2" presStyleCnt="6">
        <dgm:presLayoutVars>
          <dgm:bulletEnabled val="1"/>
        </dgm:presLayoutVars>
      </dgm:prSet>
      <dgm:spPr/>
    </dgm:pt>
    <dgm:pt modelId="{91535095-AD08-4133-9A3A-132D62AAFB00}" type="pres">
      <dgm:prSet presAssocID="{40327E34-5B8E-4861-B94C-DE9A16B0A81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F3FFB67-5824-4028-A1EB-DDF4874AA555}" type="pres">
      <dgm:prSet presAssocID="{40327E34-5B8E-4861-B94C-DE9A16B0A81F}" presName="childText" presStyleLbl="revTx" presStyleIdx="3" presStyleCnt="6">
        <dgm:presLayoutVars>
          <dgm:bulletEnabled val="1"/>
        </dgm:presLayoutVars>
      </dgm:prSet>
      <dgm:spPr/>
    </dgm:pt>
    <dgm:pt modelId="{1655A84C-03F5-49B2-B62C-ABC502D70417}" type="pres">
      <dgm:prSet presAssocID="{46F282E6-1002-4F44-AB03-99F66078FF7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12FD96D-5706-44A3-A202-644CF1F95AE7}" type="pres">
      <dgm:prSet presAssocID="{46F282E6-1002-4F44-AB03-99F66078FF72}" presName="childText" presStyleLbl="revTx" presStyleIdx="4" presStyleCnt="6">
        <dgm:presLayoutVars>
          <dgm:bulletEnabled val="1"/>
        </dgm:presLayoutVars>
      </dgm:prSet>
      <dgm:spPr/>
    </dgm:pt>
    <dgm:pt modelId="{A9770D53-3C70-4A42-BA63-F14CBDD8D7DD}" type="pres">
      <dgm:prSet presAssocID="{9CA01B4D-290A-4470-956B-DCAA29E529F9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C3BD924-E932-4F0F-B689-AB2F40E64CBC}" type="pres">
      <dgm:prSet presAssocID="{9CA01B4D-290A-4470-956B-DCAA29E529F9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1D462106-A5ED-454C-8C70-CE70A471A33B}" srcId="{9C0F711E-37A3-4DE4-85A9-9A1493EEAE10}" destId="{EE55809E-1436-4416-B219-C313959B3161}" srcOrd="0" destOrd="0" parTransId="{805A8ABC-AE1C-40E3-905A-A28E5FBDAB73}" sibTransId="{A4A11723-74DE-400C-B442-23E70DC0A576}"/>
    <dgm:cxn modelId="{D769F80C-EB81-4442-A407-73DF417F8265}" type="presOf" srcId="{40327E34-5B8E-4861-B94C-DE9A16B0A81F}" destId="{91535095-AD08-4133-9A3A-132D62AAFB00}" srcOrd="0" destOrd="0" presId="urn:microsoft.com/office/officeart/2005/8/layout/vList2"/>
    <dgm:cxn modelId="{330AD50D-AF4D-4873-A78C-3AE6AB2FAAD3}" type="presOf" srcId="{9C0F711E-37A3-4DE4-85A9-9A1493EEAE10}" destId="{9F166ED7-A03C-4F14-9118-A06103B1CB23}" srcOrd="0" destOrd="0" presId="urn:microsoft.com/office/officeart/2005/8/layout/vList2"/>
    <dgm:cxn modelId="{DF12F514-FF4E-4F3A-87F9-DEAB8FE69A6F}" type="presOf" srcId="{EE55809E-1436-4416-B219-C313959B3161}" destId="{9DBEF8B5-F043-43ED-94CD-AD06AAF0FFD3}" srcOrd="0" destOrd="0" presId="urn:microsoft.com/office/officeart/2005/8/layout/vList2"/>
    <dgm:cxn modelId="{FD44B625-83E2-435F-91FD-5F07C74708E0}" type="presOf" srcId="{F91F59E1-00FC-4469-8E47-81291E498206}" destId="{A213BD7A-97F2-4339-B964-C6906069DDBF}" srcOrd="0" destOrd="0" presId="urn:microsoft.com/office/officeart/2005/8/layout/vList2"/>
    <dgm:cxn modelId="{FE951127-C8E6-4977-9809-35A8FE5F8ACF}" type="presOf" srcId="{B73DFD77-E9AB-424F-919F-B3746ECEDDAA}" destId="{2C3BD924-E932-4F0F-B689-AB2F40E64CBC}" srcOrd="0" destOrd="0" presId="urn:microsoft.com/office/officeart/2005/8/layout/vList2"/>
    <dgm:cxn modelId="{18973F29-207D-4E02-9196-16052D4572FA}" srcId="{CF3C9E49-BC37-431E-B11E-816252B629AC}" destId="{46F282E6-1002-4F44-AB03-99F66078FF72}" srcOrd="4" destOrd="0" parTransId="{FE54025C-12BD-4923-8631-83E2A1391BD5}" sibTransId="{64A623E3-C472-40B1-BA5D-8C5212EA620E}"/>
    <dgm:cxn modelId="{8FAAFD40-F6AA-4FBC-819F-628A7AB6C3C1}" srcId="{567EED3E-4F53-44BC-B503-A9ED381AB879}" destId="{F91F59E1-00FC-4469-8E47-81291E498206}" srcOrd="0" destOrd="0" parTransId="{F699B9A3-8798-4E63-9CC6-F687C7ECF1F8}" sibTransId="{C9D5ECDF-9EFD-4C88-876E-738BE55B18A7}"/>
    <dgm:cxn modelId="{78E44E5C-4174-4806-A2A9-669E1C5A0EE7}" type="presOf" srcId="{70241BB9-8951-4C6A-B2FC-D97E88D89137}" destId="{BF3FFB67-5824-4028-A1EB-DDF4874AA555}" srcOrd="0" destOrd="0" presId="urn:microsoft.com/office/officeart/2005/8/layout/vList2"/>
    <dgm:cxn modelId="{3468BA5F-0E74-44C4-83A3-A7CA593C4166}" srcId="{CF3C9E49-BC37-431E-B11E-816252B629AC}" destId="{567EED3E-4F53-44BC-B503-A9ED381AB879}" srcOrd="2" destOrd="0" parTransId="{EECA3B1F-1F37-491B-9966-36865E77D868}" sibTransId="{5C30454C-46E6-40EF-A978-7F02DE849D50}"/>
    <dgm:cxn modelId="{466AEA6C-0183-41A0-85CF-137066049E6D}" srcId="{40327E34-5B8E-4861-B94C-DE9A16B0A81F}" destId="{70241BB9-8951-4C6A-B2FC-D97E88D89137}" srcOrd="0" destOrd="0" parTransId="{839AF62C-C28A-4515-8B5A-DF69018A7714}" sibTransId="{70FACA5B-8DDC-4746-9979-E4D93D7082D0}"/>
    <dgm:cxn modelId="{B0E40D4D-6830-4A47-9F7F-D01657E48B7D}" type="presOf" srcId="{7B814178-A230-49C3-853A-EEF22E283125}" destId="{312FD96D-5706-44A3-A202-644CF1F95AE7}" srcOrd="0" destOrd="0" presId="urn:microsoft.com/office/officeart/2005/8/layout/vList2"/>
    <dgm:cxn modelId="{798C3C4F-4FC0-4628-9B51-6603161EB9EE}" type="presOf" srcId="{6935E605-5144-4C88-8ABF-38A76973D6C6}" destId="{D7ACEF95-5583-4D6B-82B7-679682269DCC}" srcOrd="0" destOrd="0" presId="urn:microsoft.com/office/officeart/2005/8/layout/vList2"/>
    <dgm:cxn modelId="{96B76251-83B3-425E-82E3-A34018E75166}" srcId="{CF3C9E49-BC37-431E-B11E-816252B629AC}" destId="{9C0F711E-37A3-4DE4-85A9-9A1493EEAE10}" srcOrd="0" destOrd="0" parTransId="{8C1694CE-55DD-493B-B96E-FCCBB3E3E46A}" sibTransId="{508922A1-50A8-4F14-A1A1-8F28794C2681}"/>
    <dgm:cxn modelId="{3936AB5A-A6AA-4204-93ED-FE8A61D261B8}" type="presOf" srcId="{478CD3C7-F820-494F-AC99-5F4CD2602D4B}" destId="{21ECC71A-401C-4D96-8E60-F425B4CC7AD9}" srcOrd="0" destOrd="0" presId="urn:microsoft.com/office/officeart/2005/8/layout/vList2"/>
    <dgm:cxn modelId="{C9EE7683-1D31-43E5-94C2-D94D68C52958}" srcId="{CF3C9E49-BC37-431E-B11E-816252B629AC}" destId="{6935E605-5144-4C88-8ABF-38A76973D6C6}" srcOrd="1" destOrd="0" parTransId="{FD76121D-D82E-485C-8BF2-17C9B295E959}" sibTransId="{3C4897AD-128D-430E-ADFE-2013992B96EF}"/>
    <dgm:cxn modelId="{940FB884-459A-45AC-9563-FA4942EAC9F8}" srcId="{9CA01B4D-290A-4470-956B-DCAA29E529F9}" destId="{B73DFD77-E9AB-424F-919F-B3746ECEDDAA}" srcOrd="0" destOrd="0" parTransId="{10253826-FA0D-4489-91FF-A52999C26B0D}" sibTransId="{3C74506D-9D60-4607-AC1B-FF0962C18C8A}"/>
    <dgm:cxn modelId="{6CE0048C-D92C-48F9-9DC9-DE41213DE28E}" type="presOf" srcId="{CF3C9E49-BC37-431E-B11E-816252B629AC}" destId="{EFBE6527-E991-4FA1-A069-03799C04460C}" srcOrd="0" destOrd="0" presId="urn:microsoft.com/office/officeart/2005/8/layout/vList2"/>
    <dgm:cxn modelId="{DF1C7F91-2019-4494-BE0E-075E18B21AA1}" srcId="{6935E605-5144-4C88-8ABF-38A76973D6C6}" destId="{478CD3C7-F820-494F-AC99-5F4CD2602D4B}" srcOrd="0" destOrd="0" parTransId="{5B2F402F-0AE5-44DF-9353-46504BDB7AD5}" sibTransId="{7E0EDA72-0FDB-4B7F-A846-EAF9DECEB22B}"/>
    <dgm:cxn modelId="{6624C691-6C0E-4733-821B-5458AB868474}" type="presOf" srcId="{9CA01B4D-290A-4470-956B-DCAA29E529F9}" destId="{A9770D53-3C70-4A42-BA63-F14CBDD8D7DD}" srcOrd="0" destOrd="0" presId="urn:microsoft.com/office/officeart/2005/8/layout/vList2"/>
    <dgm:cxn modelId="{E0A9659C-54C4-4B19-8478-DF7A064D4067}" type="presOf" srcId="{567EED3E-4F53-44BC-B503-A9ED381AB879}" destId="{05BC7DB3-6654-47E8-9A12-54A08F067A68}" srcOrd="0" destOrd="0" presId="urn:microsoft.com/office/officeart/2005/8/layout/vList2"/>
    <dgm:cxn modelId="{C084CC9C-7CE3-458E-B1F9-C183BE9F6763}" type="presOf" srcId="{46F282E6-1002-4F44-AB03-99F66078FF72}" destId="{1655A84C-03F5-49B2-B62C-ABC502D70417}" srcOrd="0" destOrd="0" presId="urn:microsoft.com/office/officeart/2005/8/layout/vList2"/>
    <dgm:cxn modelId="{763BC8A3-E564-49D4-B7B3-4FB6B07A189A}" srcId="{CF3C9E49-BC37-431E-B11E-816252B629AC}" destId="{40327E34-5B8E-4861-B94C-DE9A16B0A81F}" srcOrd="3" destOrd="0" parTransId="{4A10A67F-861A-419D-B52E-A92F984B71C7}" sibTransId="{07622825-B609-48CF-ACBC-99BE53FE648F}"/>
    <dgm:cxn modelId="{4059EFD8-CDED-4B59-AE53-AB8014837A05}" srcId="{CF3C9E49-BC37-431E-B11E-816252B629AC}" destId="{9CA01B4D-290A-4470-956B-DCAA29E529F9}" srcOrd="5" destOrd="0" parTransId="{2A4FC775-DC4A-47FB-8EAB-A3C6925284B1}" sibTransId="{6B9E4160-0B89-406B-B105-7EF28003F605}"/>
    <dgm:cxn modelId="{2DAFB6F5-F818-42CC-A86C-390172EE8764}" srcId="{46F282E6-1002-4F44-AB03-99F66078FF72}" destId="{7B814178-A230-49C3-853A-EEF22E283125}" srcOrd="0" destOrd="0" parTransId="{525A1B62-D582-4166-8F00-53265ECE9FDF}" sibTransId="{887C3E25-B2E3-42FE-A2CB-C7B09F3D605F}"/>
    <dgm:cxn modelId="{09C99C39-E44D-4F9C-82C1-D5EA661B56BD}" type="presParOf" srcId="{EFBE6527-E991-4FA1-A069-03799C04460C}" destId="{9F166ED7-A03C-4F14-9118-A06103B1CB23}" srcOrd="0" destOrd="0" presId="urn:microsoft.com/office/officeart/2005/8/layout/vList2"/>
    <dgm:cxn modelId="{D7BBEE5A-6D03-45C0-8655-D6E05B92CF12}" type="presParOf" srcId="{EFBE6527-E991-4FA1-A069-03799C04460C}" destId="{9DBEF8B5-F043-43ED-94CD-AD06AAF0FFD3}" srcOrd="1" destOrd="0" presId="urn:microsoft.com/office/officeart/2005/8/layout/vList2"/>
    <dgm:cxn modelId="{3653F193-6861-4EB8-8381-1AE0BED488B2}" type="presParOf" srcId="{EFBE6527-E991-4FA1-A069-03799C04460C}" destId="{D7ACEF95-5583-4D6B-82B7-679682269DCC}" srcOrd="2" destOrd="0" presId="urn:microsoft.com/office/officeart/2005/8/layout/vList2"/>
    <dgm:cxn modelId="{FBF969D2-A703-402C-A3BA-C25905D0CF59}" type="presParOf" srcId="{EFBE6527-E991-4FA1-A069-03799C04460C}" destId="{21ECC71A-401C-4D96-8E60-F425B4CC7AD9}" srcOrd="3" destOrd="0" presId="urn:microsoft.com/office/officeart/2005/8/layout/vList2"/>
    <dgm:cxn modelId="{E7CC8EF9-F702-45E4-924F-74D44D187F74}" type="presParOf" srcId="{EFBE6527-E991-4FA1-A069-03799C04460C}" destId="{05BC7DB3-6654-47E8-9A12-54A08F067A68}" srcOrd="4" destOrd="0" presId="urn:microsoft.com/office/officeart/2005/8/layout/vList2"/>
    <dgm:cxn modelId="{658BE82B-4C85-4CC7-B0CD-BB2602A92039}" type="presParOf" srcId="{EFBE6527-E991-4FA1-A069-03799C04460C}" destId="{A213BD7A-97F2-4339-B964-C6906069DDBF}" srcOrd="5" destOrd="0" presId="urn:microsoft.com/office/officeart/2005/8/layout/vList2"/>
    <dgm:cxn modelId="{0E734642-EAAF-4512-A0A6-E10485806016}" type="presParOf" srcId="{EFBE6527-E991-4FA1-A069-03799C04460C}" destId="{91535095-AD08-4133-9A3A-132D62AAFB00}" srcOrd="6" destOrd="0" presId="urn:microsoft.com/office/officeart/2005/8/layout/vList2"/>
    <dgm:cxn modelId="{C6FB1DDC-BC84-4474-8C4D-EC2364081555}" type="presParOf" srcId="{EFBE6527-E991-4FA1-A069-03799C04460C}" destId="{BF3FFB67-5824-4028-A1EB-DDF4874AA555}" srcOrd="7" destOrd="0" presId="urn:microsoft.com/office/officeart/2005/8/layout/vList2"/>
    <dgm:cxn modelId="{F3992288-DCC2-408B-A657-5498CE92BE6D}" type="presParOf" srcId="{EFBE6527-E991-4FA1-A069-03799C04460C}" destId="{1655A84C-03F5-49B2-B62C-ABC502D70417}" srcOrd="8" destOrd="0" presId="urn:microsoft.com/office/officeart/2005/8/layout/vList2"/>
    <dgm:cxn modelId="{2C5AE6A1-6515-465F-873D-94780949FC9E}" type="presParOf" srcId="{EFBE6527-E991-4FA1-A069-03799C04460C}" destId="{312FD96D-5706-44A3-A202-644CF1F95AE7}" srcOrd="9" destOrd="0" presId="urn:microsoft.com/office/officeart/2005/8/layout/vList2"/>
    <dgm:cxn modelId="{83D34C99-156F-4B0B-B848-1A09DD7E5083}" type="presParOf" srcId="{EFBE6527-E991-4FA1-A069-03799C04460C}" destId="{A9770D53-3C70-4A42-BA63-F14CBDD8D7DD}" srcOrd="10" destOrd="0" presId="urn:microsoft.com/office/officeart/2005/8/layout/vList2"/>
    <dgm:cxn modelId="{54BC1ECA-2749-411E-9B26-41640FDA4585}" type="presParOf" srcId="{EFBE6527-E991-4FA1-A069-03799C04460C}" destId="{2C3BD924-E932-4F0F-B689-AB2F40E64CBC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166ED7-A03C-4F14-9118-A06103B1CB23}">
      <dsp:nvSpPr>
        <dsp:cNvPr id="0" name=""/>
        <dsp:cNvSpPr/>
      </dsp:nvSpPr>
      <dsp:spPr>
        <a:xfrm>
          <a:off x="0" y="37351"/>
          <a:ext cx="6315069" cy="35977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Pods: Smallest deployable unit</a:t>
          </a:r>
        </a:p>
      </dsp:txBody>
      <dsp:txXfrm>
        <a:off x="17563" y="54914"/>
        <a:ext cx="6279943" cy="324648"/>
      </dsp:txXfrm>
    </dsp:sp>
    <dsp:sp modelId="{9DBEF8B5-F043-43ED-94CD-AD06AAF0FFD3}">
      <dsp:nvSpPr>
        <dsp:cNvPr id="0" name=""/>
        <dsp:cNvSpPr/>
      </dsp:nvSpPr>
      <dsp:spPr>
        <a:xfrm>
          <a:off x="0" y="397126"/>
          <a:ext cx="6315069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3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200" kern="1200" dirty="0"/>
        </a:p>
      </dsp:txBody>
      <dsp:txXfrm>
        <a:off x="0" y="397126"/>
        <a:ext cx="6315069" cy="248400"/>
      </dsp:txXfrm>
    </dsp:sp>
    <dsp:sp modelId="{D7ACEF95-5583-4D6B-82B7-679682269DCC}">
      <dsp:nvSpPr>
        <dsp:cNvPr id="0" name=""/>
        <dsp:cNvSpPr/>
      </dsp:nvSpPr>
      <dsp:spPr>
        <a:xfrm>
          <a:off x="0" y="645526"/>
          <a:ext cx="6315069" cy="359774"/>
        </a:xfrm>
        <a:prstGeom prst="roundRect">
          <a:avLst/>
        </a:prstGeom>
        <a:solidFill>
          <a:schemeClr val="accent4">
            <a:hueOff val="591216"/>
            <a:satOff val="98"/>
            <a:lumOff val="1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Deployments: Manage replicas and updates</a:t>
          </a:r>
        </a:p>
      </dsp:txBody>
      <dsp:txXfrm>
        <a:off x="17563" y="663089"/>
        <a:ext cx="6279943" cy="324648"/>
      </dsp:txXfrm>
    </dsp:sp>
    <dsp:sp modelId="{21ECC71A-401C-4D96-8E60-F425B4CC7AD9}">
      <dsp:nvSpPr>
        <dsp:cNvPr id="0" name=""/>
        <dsp:cNvSpPr/>
      </dsp:nvSpPr>
      <dsp:spPr>
        <a:xfrm>
          <a:off x="0" y="1005301"/>
          <a:ext cx="6315069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3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200" kern="1200" dirty="0"/>
        </a:p>
      </dsp:txBody>
      <dsp:txXfrm>
        <a:off x="0" y="1005301"/>
        <a:ext cx="6315069" cy="248400"/>
      </dsp:txXfrm>
    </dsp:sp>
    <dsp:sp modelId="{05BC7DB3-6654-47E8-9A12-54A08F067A68}">
      <dsp:nvSpPr>
        <dsp:cNvPr id="0" name=""/>
        <dsp:cNvSpPr/>
      </dsp:nvSpPr>
      <dsp:spPr>
        <a:xfrm>
          <a:off x="0" y="1253701"/>
          <a:ext cx="6315069" cy="359774"/>
        </a:xfrm>
        <a:prstGeom prst="roundRect">
          <a:avLst/>
        </a:prstGeom>
        <a:solidFill>
          <a:schemeClr val="accent4">
            <a:hueOff val="1182432"/>
            <a:satOff val="196"/>
            <a:lumOff val="3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ReplicaSets</a:t>
          </a:r>
          <a:r>
            <a:rPr lang="en-US" sz="1500" kern="1200" dirty="0"/>
            <a:t>: Maintain desired pod count </a:t>
          </a:r>
        </a:p>
      </dsp:txBody>
      <dsp:txXfrm>
        <a:off x="17563" y="1271264"/>
        <a:ext cx="6279943" cy="324648"/>
      </dsp:txXfrm>
    </dsp:sp>
    <dsp:sp modelId="{A213BD7A-97F2-4339-B964-C6906069DDBF}">
      <dsp:nvSpPr>
        <dsp:cNvPr id="0" name=""/>
        <dsp:cNvSpPr/>
      </dsp:nvSpPr>
      <dsp:spPr>
        <a:xfrm>
          <a:off x="0" y="1613476"/>
          <a:ext cx="6315069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3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200" kern="1200" dirty="0"/>
        </a:p>
      </dsp:txBody>
      <dsp:txXfrm>
        <a:off x="0" y="1613476"/>
        <a:ext cx="6315069" cy="248400"/>
      </dsp:txXfrm>
    </dsp:sp>
    <dsp:sp modelId="{91535095-AD08-4133-9A3A-132D62AAFB00}">
      <dsp:nvSpPr>
        <dsp:cNvPr id="0" name=""/>
        <dsp:cNvSpPr/>
      </dsp:nvSpPr>
      <dsp:spPr>
        <a:xfrm>
          <a:off x="0" y="1861876"/>
          <a:ext cx="6315069" cy="359774"/>
        </a:xfrm>
        <a:prstGeom prst="roundRect">
          <a:avLst/>
        </a:prstGeom>
        <a:solidFill>
          <a:schemeClr val="accent4">
            <a:hueOff val="1773648"/>
            <a:satOff val="293"/>
            <a:lumOff val="4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Services &amp; Ingress: Networking &amp; access</a:t>
          </a:r>
        </a:p>
      </dsp:txBody>
      <dsp:txXfrm>
        <a:off x="17563" y="1879439"/>
        <a:ext cx="6279943" cy="324648"/>
      </dsp:txXfrm>
    </dsp:sp>
    <dsp:sp modelId="{BF3FFB67-5824-4028-A1EB-DDF4874AA555}">
      <dsp:nvSpPr>
        <dsp:cNvPr id="0" name=""/>
        <dsp:cNvSpPr/>
      </dsp:nvSpPr>
      <dsp:spPr>
        <a:xfrm>
          <a:off x="0" y="2221651"/>
          <a:ext cx="6315069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3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200" kern="1200" dirty="0"/>
        </a:p>
      </dsp:txBody>
      <dsp:txXfrm>
        <a:off x="0" y="2221651"/>
        <a:ext cx="6315069" cy="248400"/>
      </dsp:txXfrm>
    </dsp:sp>
    <dsp:sp modelId="{1655A84C-03F5-49B2-B62C-ABC502D70417}">
      <dsp:nvSpPr>
        <dsp:cNvPr id="0" name=""/>
        <dsp:cNvSpPr/>
      </dsp:nvSpPr>
      <dsp:spPr>
        <a:xfrm>
          <a:off x="0" y="2470051"/>
          <a:ext cx="6315069" cy="359774"/>
        </a:xfrm>
        <a:prstGeom prst="roundRect">
          <a:avLst/>
        </a:prstGeom>
        <a:solidFill>
          <a:schemeClr val="accent4">
            <a:hueOff val="2364864"/>
            <a:satOff val="391"/>
            <a:lumOff val="64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ConfigMaps</a:t>
          </a:r>
          <a:r>
            <a:rPr lang="en-US" sz="1500" kern="1200" dirty="0"/>
            <a:t> &amp; Secrets: Configuration and sensitive data</a:t>
          </a:r>
        </a:p>
      </dsp:txBody>
      <dsp:txXfrm>
        <a:off x="17563" y="2487614"/>
        <a:ext cx="6279943" cy="324648"/>
      </dsp:txXfrm>
    </dsp:sp>
    <dsp:sp modelId="{312FD96D-5706-44A3-A202-644CF1F95AE7}">
      <dsp:nvSpPr>
        <dsp:cNvPr id="0" name=""/>
        <dsp:cNvSpPr/>
      </dsp:nvSpPr>
      <dsp:spPr>
        <a:xfrm>
          <a:off x="0" y="2829826"/>
          <a:ext cx="6315069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3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200" kern="1200" dirty="0"/>
        </a:p>
      </dsp:txBody>
      <dsp:txXfrm>
        <a:off x="0" y="2829826"/>
        <a:ext cx="6315069" cy="248400"/>
      </dsp:txXfrm>
    </dsp:sp>
    <dsp:sp modelId="{A9770D53-3C70-4A42-BA63-F14CBDD8D7DD}">
      <dsp:nvSpPr>
        <dsp:cNvPr id="0" name=""/>
        <dsp:cNvSpPr/>
      </dsp:nvSpPr>
      <dsp:spPr>
        <a:xfrm>
          <a:off x="0" y="3078226"/>
          <a:ext cx="6315069" cy="359774"/>
        </a:xfrm>
        <a:prstGeom prst="roundRect">
          <a:avLst/>
        </a:prstGeom>
        <a:solidFill>
          <a:schemeClr val="accent4">
            <a:hueOff val="2956080"/>
            <a:satOff val="489"/>
            <a:lumOff val="80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PersistentVolumes</a:t>
          </a:r>
          <a:r>
            <a:rPr lang="en-US" sz="1500" kern="1200" dirty="0"/>
            <a:t> &amp; Claims: Persistent storage</a:t>
          </a:r>
        </a:p>
      </dsp:txBody>
      <dsp:txXfrm>
        <a:off x="17563" y="3095789"/>
        <a:ext cx="6279943" cy="324648"/>
      </dsp:txXfrm>
    </dsp:sp>
    <dsp:sp modelId="{2C3BD924-E932-4F0F-B689-AB2F40E64CBC}">
      <dsp:nvSpPr>
        <dsp:cNvPr id="0" name=""/>
        <dsp:cNvSpPr/>
      </dsp:nvSpPr>
      <dsp:spPr>
        <a:xfrm>
          <a:off x="0" y="3438001"/>
          <a:ext cx="6315069" cy="24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503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200" kern="1200" dirty="0"/>
        </a:p>
      </dsp:txBody>
      <dsp:txXfrm>
        <a:off x="0" y="3438001"/>
        <a:ext cx="6315069" cy="248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8E9F4-93CF-FC2E-F4C2-7D9B778B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04921-6118-06CE-B624-BF157A058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BB64E-558F-10F9-80B2-9EECECF74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AD87B-2473-FC3E-C559-F922F4E4A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5197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Kubernetes essentials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6276" y="5946130"/>
            <a:ext cx="6579164" cy="302269"/>
          </a:xfrm>
        </p:spPr>
        <p:txBody>
          <a:bodyPr/>
          <a:lstStyle/>
          <a:p>
            <a:pPr algn="l"/>
            <a:r>
              <a:rPr lang="en-US" sz="1100" spc="0" dirty="0"/>
              <a:t>Robert danciu &amp; robert </a:t>
            </a:r>
            <a:r>
              <a:rPr lang="en-US" sz="1100" spc="0" dirty="0" err="1"/>
              <a:t>balint</a:t>
            </a:r>
            <a:r>
              <a:rPr lang="en-US" sz="1100" spc="0" dirty="0"/>
              <a:t>                                                                                                         Oct 19</a:t>
            </a:r>
            <a:r>
              <a:rPr lang="en-US" sz="1100" spc="0" baseline="30000" dirty="0"/>
              <a:t>th</a:t>
            </a:r>
            <a:endParaRPr lang="en-US" sz="1100" spc="0" dirty="0"/>
          </a:p>
        </p:txBody>
      </p:sp>
      <p:pic>
        <p:nvPicPr>
          <p:cNvPr id="5" name="Picture 4" descr="A blue hexagon with a black background and a black text&#10;&#10;AI-generated content may be incorrect.">
            <a:extLst>
              <a:ext uri="{FF2B5EF4-FFF2-40B4-BE49-F238E27FC236}">
                <a16:creationId xmlns:a16="http://schemas.microsoft.com/office/drawing/2014/main" id="{BF470BD8-11EF-0892-53B3-DC66D5784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" y="5238750"/>
            <a:ext cx="1862485" cy="161925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7DBB3-C318-8971-5EEF-B18FFCFA854A}"/>
              </a:ext>
            </a:extLst>
          </p:cNvPr>
          <p:cNvCxnSpPr>
            <a:cxnSpLocks/>
          </p:cNvCxnSpPr>
          <p:nvPr/>
        </p:nvCxnSpPr>
        <p:spPr>
          <a:xfrm>
            <a:off x="2656276" y="5946131"/>
            <a:ext cx="6579164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anchor="b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Introduction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Background and origins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Why is it still relevant?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Comparison with alternatives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Core concepts &amp; architecture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Kubernetes in action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Getting started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When (and when not) to use it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/>
              <a:t>Resources &amp; next steps</a:t>
            </a:r>
          </a:p>
        </p:txBody>
      </p:sp>
      <p:pic>
        <p:nvPicPr>
          <p:cNvPr id="6" name="Picture 5" descr="A blue hexagon with a black background and a black text&#10;&#10;AI-generated content may be incorrect.">
            <a:extLst>
              <a:ext uri="{FF2B5EF4-FFF2-40B4-BE49-F238E27FC236}">
                <a16:creationId xmlns:a16="http://schemas.microsoft.com/office/drawing/2014/main" id="{826D5059-D4B5-5AF9-FDCE-B5E6ABBEA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" b="4059"/>
          <a:stretch>
            <a:fillRect/>
          </a:stretch>
        </p:blipFill>
        <p:spPr>
          <a:xfrm>
            <a:off x="7727941" y="2587306"/>
            <a:ext cx="3282316" cy="2739627"/>
          </a:xfrm>
          <a:prstGeom prst="rect">
            <a:avLst/>
          </a:prstGeom>
          <a:noFill/>
        </p:spPr>
      </p:pic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2D327101-55AF-DA5D-F42F-F6F2168A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Why Kubernetes?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Containers offer portability, isolation, and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Growing container adoption requires orchestration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Kubernetes automates deployment, scaling, and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Declarative model ensures desired state is maintained</a:t>
            </a:r>
          </a:p>
        </p:txBody>
      </p:sp>
      <p:pic>
        <p:nvPicPr>
          <p:cNvPr id="5" name="Picture 4" descr="A blue hexagon with a white wheel and a blue city with buildings&#10;&#10;AI-generated content may be incorrect.">
            <a:extLst>
              <a:ext uri="{FF2B5EF4-FFF2-40B4-BE49-F238E27FC236}">
                <a16:creationId xmlns:a16="http://schemas.microsoft.com/office/drawing/2014/main" id="{29089912-D929-4ADC-FB8B-EAC6A1B4D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776" y="3254184"/>
            <a:ext cx="3905250" cy="2528648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Origins of </a:t>
            </a:r>
            <a:r>
              <a:rPr lang="en-US" dirty="0" err="1"/>
              <a:t>kubernetes</a:t>
            </a:r>
            <a:r>
              <a:rPr lang="en-US" dirty="0"/>
              <a:t>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at Google (2013), inspired by Borg and Omega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Open-sourced and donated to CNCF in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for on-premises, hybrid and cloud environments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929FAA-0AD2-0FF4-BC27-6E87552E6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2551303"/>
            <a:ext cx="6315069" cy="355222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825735-4701-745D-BE9D-1891CB550AC6}"/>
              </a:ext>
            </a:extLst>
          </p:cNvPr>
          <p:cNvSpPr txBox="1"/>
          <p:nvPr/>
        </p:nvSpPr>
        <p:spPr>
          <a:xfrm>
            <a:off x="7151224" y="5697379"/>
            <a:ext cx="17844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Figure 1: Kubernetes history</a:t>
            </a:r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cap="all" spc="0" baseline="0">
                <a:latin typeface="+mj-lt"/>
                <a:ea typeface="+mj-ea"/>
                <a:cs typeface="Biome" panose="020B0503030204020804" pitchFamily="34" charset="0"/>
              </a:rPr>
              <a:t>Challenges Kubernetes solves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D4B51B-ED4E-11A0-8128-092C167C0982}"/>
              </a:ext>
            </a:extLst>
          </p:cNvPr>
          <p:cNvSpPr txBox="1"/>
          <p:nvPr/>
        </p:nvSpPr>
        <p:spPr>
          <a:xfrm>
            <a:off x="4948237" y="5409320"/>
            <a:ext cx="2295525" cy="269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1000" i="1" dirty="0">
                <a:solidFill>
                  <a:schemeClr val="bg1"/>
                </a:solidFill>
              </a:rPr>
              <a:t>Table 1: Kubernetes problem-solution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E3769D1-A336-B44F-5B86-F0AC7EFD39FD}"/>
              </a:ext>
            </a:extLst>
          </p:cNvPr>
          <p:cNvGraphicFramePr>
            <a:graphicFrameLocks noGrp="1"/>
          </p:cNvGraphicFramePr>
          <p:nvPr>
            <p:ph sz="quarter" idx="36"/>
            <p:extLst>
              <p:ext uri="{D42A27DB-BD31-4B8C-83A1-F6EECF244321}">
                <p14:modId xmlns:p14="http://schemas.microsoft.com/office/powerpoint/2010/main" val="2448100603"/>
              </p:ext>
            </p:extLst>
          </p:nvPr>
        </p:nvGraphicFramePr>
        <p:xfrm>
          <a:off x="1771204" y="2266950"/>
          <a:ext cx="8649592" cy="3135048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4324796">
                  <a:extLst>
                    <a:ext uri="{9D8B030D-6E8A-4147-A177-3AD203B41FA5}">
                      <a16:colId xmlns:a16="http://schemas.microsoft.com/office/drawing/2014/main" val="3020885032"/>
                    </a:ext>
                  </a:extLst>
                </a:gridCol>
                <a:gridCol w="4324796">
                  <a:extLst>
                    <a:ext uri="{9D8B030D-6E8A-4147-A177-3AD203B41FA5}">
                      <a16:colId xmlns:a16="http://schemas.microsoft.com/office/drawing/2014/main" val="3541288142"/>
                    </a:ext>
                  </a:extLst>
                </a:gridCol>
              </a:tblGrid>
              <a:tr h="334811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Problem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Kubernetes Solution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121312"/>
                  </a:ext>
                </a:extLst>
              </a:tr>
              <a:tr h="563091">
                <a:tc>
                  <a:txBody>
                    <a:bodyPr/>
                    <a:lstStyle/>
                    <a:p>
                      <a:r>
                        <a:rPr lang="en-US" sz="1600" dirty="0"/>
                        <a:t>Managing hundreds of containers manually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Automated scheduling and placement of containers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912781"/>
                  </a:ext>
                </a:extLst>
              </a:tr>
              <a:tr h="334811">
                <a:tc>
                  <a:txBody>
                    <a:bodyPr/>
                    <a:lstStyle/>
                    <a:p>
                      <a:r>
                        <a:rPr lang="en-US" sz="1600"/>
                        <a:t>Application failures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Self-healing, auto-restarts and rescheduling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024084"/>
                  </a:ext>
                </a:extLst>
              </a:tr>
              <a:tr h="563091">
                <a:tc>
                  <a:txBody>
                    <a:bodyPr/>
                    <a:lstStyle/>
                    <a:p>
                      <a:r>
                        <a:rPr lang="en-US" sz="1600"/>
                        <a:t>Inconsistent deployments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Declarative configuration and versioned deployments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083592"/>
                  </a:ext>
                </a:extLst>
              </a:tr>
              <a:tr h="334811">
                <a:tc>
                  <a:txBody>
                    <a:bodyPr/>
                    <a:lstStyle/>
                    <a:p>
                      <a:r>
                        <a:rPr lang="en-US" sz="1600"/>
                        <a:t>Risky updates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Rolling updates and instant rollbacks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461214"/>
                  </a:ext>
                </a:extLst>
              </a:tr>
              <a:tr h="334811">
                <a:tc>
                  <a:txBody>
                    <a:bodyPr/>
                    <a:lstStyle/>
                    <a:p>
                      <a:r>
                        <a:rPr lang="en-US" sz="1600"/>
                        <a:t>Scaling issues under load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Horizontal, vertical, and cluster autoscaling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162059"/>
                  </a:ext>
                </a:extLst>
              </a:tr>
              <a:tr h="334811">
                <a:tc>
                  <a:txBody>
                    <a:bodyPr/>
                    <a:lstStyle/>
                    <a:p>
                      <a:r>
                        <a:rPr lang="en-US" sz="1600"/>
                        <a:t>Service connectivity issues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Stable networking, DNS, and load balancing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1415057"/>
                  </a:ext>
                </a:extLst>
              </a:tr>
              <a:tr h="334811">
                <a:tc>
                  <a:txBody>
                    <a:bodyPr/>
                    <a:lstStyle/>
                    <a:p>
                      <a:r>
                        <a:rPr lang="en-US" sz="1600"/>
                        <a:t>Cloud portability challenges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Vendor-neutral API for hybrid / multi-cloud</a:t>
                      </a:r>
                    </a:p>
                  </a:txBody>
                  <a:tcPr marL="69995" marR="69995" marT="34998" marB="349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514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 anchor="b">
            <a:normAutofit/>
          </a:bodyPr>
          <a:lstStyle/>
          <a:p>
            <a:r>
              <a:rPr lang="en-US" dirty="0"/>
              <a:t>Why is it still relevant?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02625" y="3036429"/>
            <a:ext cx="4799323" cy="2382939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Dominant container orchestration platform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Large ecosystem and community support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Open-source, flexible, ad extensible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Hybrid and multi-cloud portability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Continually evolving with new features (</a:t>
            </a:r>
            <a:r>
              <a:rPr lang="en-US" dirty="0" err="1"/>
              <a:t>Knative</a:t>
            </a:r>
            <a:r>
              <a:rPr lang="en-US" dirty="0"/>
              <a:t>, Kubeflow)</a:t>
            </a:r>
          </a:p>
        </p:txBody>
      </p:sp>
      <p:pic>
        <p:nvPicPr>
          <p:cNvPr id="4" name="Picture 3" descr="A circular chart with different colored symbols&#10;&#10;AI-generated content may be incorrect.">
            <a:extLst>
              <a:ext uri="{FF2B5EF4-FFF2-40B4-BE49-F238E27FC236}">
                <a16:creationId xmlns:a16="http://schemas.microsoft.com/office/drawing/2014/main" id="{8CD9F7D2-8F51-8AD9-C5DB-D0E8D562F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948" y="2229600"/>
            <a:ext cx="4309001" cy="3996598"/>
          </a:xfrm>
          <a:prstGeom prst="rect">
            <a:avLst/>
          </a:prstGeom>
          <a:noFill/>
        </p:spPr>
      </p:pic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FC4838DF-8C7F-4049-9F61-FB0EC1FD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5B72-322E-6758-F281-B47D1E1ADC49}"/>
              </a:ext>
            </a:extLst>
          </p:cNvPr>
          <p:cNvSpPr txBox="1"/>
          <p:nvPr/>
        </p:nvSpPr>
        <p:spPr>
          <a:xfrm>
            <a:off x="8231167" y="6162539"/>
            <a:ext cx="20505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Figure 2: Kubernetes ecosystem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Alternative tools</a:t>
            </a:r>
          </a:p>
        </p:txBody>
      </p: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692A64DE-F944-C635-3F2B-173EDD71064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C306DD-A536-B13D-9B37-F01AA1E52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47" y="2186878"/>
            <a:ext cx="10991356" cy="4039320"/>
          </a:xfrm>
          <a:prstGeom prst="rect">
            <a:avLst/>
          </a:prstGeom>
          <a:noFill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E4B3935-749A-04AA-05F4-1B27E48B170E}"/>
              </a:ext>
            </a:extLst>
          </p:cNvPr>
          <p:cNvSpPr txBox="1"/>
          <p:nvPr/>
        </p:nvSpPr>
        <p:spPr>
          <a:xfrm>
            <a:off x="4936899" y="6221571"/>
            <a:ext cx="22589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Table 2: Comparison with other tools</a:t>
            </a:r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pPr lvl="0"/>
            <a:r>
              <a:rPr lang="en-US" noProof="0" dirty="0" err="1"/>
              <a:t>Wh</a:t>
            </a:r>
            <a:r>
              <a:rPr lang="en-US" dirty="0"/>
              <a:t>y Kubernetes stands out?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Largest community and ecosystem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scalability for thousands of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Built-in features: auto-scaling, rolling updates, service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Portability across on-prem, public, hybrid clouds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B66C4A-A519-70BC-9C56-72C08A367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2543409"/>
            <a:ext cx="6315069" cy="356801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3074DB-8625-D99F-0746-F6505E5C351D}"/>
              </a:ext>
            </a:extLst>
          </p:cNvPr>
          <p:cNvSpPr txBox="1"/>
          <p:nvPr/>
        </p:nvSpPr>
        <p:spPr>
          <a:xfrm>
            <a:off x="7077486" y="6111422"/>
            <a:ext cx="20152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Figure 3: Kubernetes ecosystem</a:t>
            </a:r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pPr lvl="0"/>
            <a:r>
              <a:rPr lang="en-US" noProof="0" dirty="0"/>
              <a:t>Choosing </a:t>
            </a:r>
            <a:r>
              <a:rPr lang="en-US" noProof="0" dirty="0" err="1"/>
              <a:t>kubernetes</a:t>
            </a: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141729" y="2084539"/>
            <a:ext cx="10500989" cy="972986"/>
          </a:xfrm>
        </p:spPr>
        <p:txBody>
          <a:bodyPr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Powerful but not always necessary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adoption depends on application complexity, scaling needs, team expertise and infrastructure resources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72A15D2-297B-CC7F-7C0C-67D678ED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64B0A658-2FDE-37CF-4379-9AE21265E376}"/>
              </a:ext>
            </a:extLst>
          </p:cNvPr>
          <p:cNvGraphicFramePr>
            <a:graphicFrameLocks noGrp="1"/>
          </p:cNvGraphicFramePr>
          <p:nvPr>
            <p:ph sz="quarter" idx="36"/>
            <p:extLst>
              <p:ext uri="{D42A27DB-BD31-4B8C-83A1-F6EECF244321}">
                <p14:modId xmlns:p14="http://schemas.microsoft.com/office/powerpoint/2010/main" val="1542827155"/>
              </p:ext>
            </p:extLst>
          </p:nvPr>
        </p:nvGraphicFramePr>
        <p:xfrm>
          <a:off x="2475069" y="3089737"/>
          <a:ext cx="7034210" cy="3066149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3511234">
                  <a:extLst>
                    <a:ext uri="{9D8B030D-6E8A-4147-A177-3AD203B41FA5}">
                      <a16:colId xmlns:a16="http://schemas.microsoft.com/office/drawing/2014/main" val="996687894"/>
                    </a:ext>
                  </a:extLst>
                </a:gridCol>
                <a:gridCol w="3522976">
                  <a:extLst>
                    <a:ext uri="{9D8B030D-6E8A-4147-A177-3AD203B41FA5}">
                      <a16:colId xmlns:a16="http://schemas.microsoft.com/office/drawing/2014/main" val="364656127"/>
                    </a:ext>
                  </a:extLst>
                </a:gridCol>
              </a:tblGrid>
              <a:tr h="308639"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When to use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When not to use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314623"/>
                  </a:ext>
                </a:extLst>
              </a:tr>
              <a:tr h="511025">
                <a:tc>
                  <a:txBody>
                    <a:bodyPr/>
                    <a:lstStyle/>
                    <a:p>
                      <a:r>
                        <a:rPr lang="en-US" sz="1300"/>
                        <a:t>Microservice architecture with multiple, loosely coupled services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Monolithic applications with simple deployment requirements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175523"/>
                  </a:ext>
                </a:extLst>
              </a:tr>
              <a:tr h="511025">
                <a:tc>
                  <a:txBody>
                    <a:bodyPr/>
                    <a:lstStyle/>
                    <a:p>
                      <a:r>
                        <a:rPr lang="en-US" sz="1300"/>
                        <a:t>Applications requiring high availability and dynamic scaling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Low-traffic or single-instance applications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314095"/>
                  </a:ext>
                </a:extLst>
              </a:tr>
              <a:tr h="511025">
                <a:tc>
                  <a:txBody>
                    <a:bodyPr/>
                    <a:lstStyle/>
                    <a:p>
                      <a:r>
                        <a:rPr lang="en-US" sz="1300"/>
                        <a:t>CI/CD pipelines with frequent deployments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Teams with limited DevOps expertise or operational resources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319619"/>
                  </a:ext>
                </a:extLst>
              </a:tr>
              <a:tr h="511025">
                <a:tc>
                  <a:txBody>
                    <a:bodyPr/>
                    <a:lstStyle/>
                    <a:p>
                      <a:r>
                        <a:rPr lang="en-US" sz="1300"/>
                        <a:t>Multi-cloud or hybrid-cloud deployments requiring portability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Projects with constrained infrastructure or strict simplicity requirements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000305"/>
                  </a:ext>
                </a:extLst>
              </a:tr>
              <a:tr h="713410">
                <a:tc>
                  <a:txBody>
                    <a:bodyPr/>
                    <a:lstStyle/>
                    <a:p>
                      <a:r>
                        <a:rPr lang="en-US" sz="1300"/>
                        <a:t>Workloads that benefit from self-healing, automated scaling and rolling updated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Serverless or PaaS environments where orchestration is handled by the platform</a:t>
                      </a:r>
                    </a:p>
                  </a:txBody>
                  <a:tcPr marL="75895" marR="75895" marT="37947" marB="3794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28292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0E8FED0-DF68-B6B6-DBE5-675AB31A533C}"/>
              </a:ext>
            </a:extLst>
          </p:cNvPr>
          <p:cNvSpPr txBox="1"/>
          <p:nvPr/>
        </p:nvSpPr>
        <p:spPr>
          <a:xfrm>
            <a:off x="4523663" y="6155886"/>
            <a:ext cx="29370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Table 3: When (and when not) to use Kubernetes</a:t>
            </a:r>
          </a:p>
        </p:txBody>
      </p:sp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Kubernetes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99620" y="2331931"/>
            <a:ext cx="4805852" cy="29989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Control plane: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Server: manages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Etcd</a:t>
            </a:r>
            <a:r>
              <a:rPr lang="en-US" dirty="0"/>
              <a:t>: manages the configuration data, state data and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Scheduler: assigns new Pods to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Controller Manager: runs multiple control loops that watch the cluster’s state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E44102-691D-B9A0-545C-F7F9D576C93E}"/>
              </a:ext>
            </a:extLst>
          </p:cNvPr>
          <p:cNvSpPr txBox="1">
            <a:spLocks/>
          </p:cNvSpPr>
          <p:nvPr/>
        </p:nvSpPr>
        <p:spPr>
          <a:xfrm>
            <a:off x="7684250" y="2482389"/>
            <a:ext cx="4358397" cy="26980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3464" indent="-283464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566928" indent="-283464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59536" indent="-283464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52144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Worker nodes:</a:t>
            </a:r>
          </a:p>
          <a:p>
            <a:r>
              <a:rPr lang="en-US" dirty="0" err="1"/>
              <a:t>kubelet</a:t>
            </a:r>
            <a:r>
              <a:rPr lang="en-US" dirty="0"/>
              <a:t>: makes sure containers are running and healthy </a:t>
            </a:r>
          </a:p>
          <a:p>
            <a:r>
              <a:rPr lang="en-US" dirty="0"/>
              <a:t>container runtime: manages the execution and lifecycle of containers</a:t>
            </a:r>
          </a:p>
          <a:p>
            <a:r>
              <a:rPr lang="en-US" dirty="0" err="1"/>
              <a:t>kube</a:t>
            </a:r>
            <a:r>
              <a:rPr lang="en-US" dirty="0"/>
              <a:t>-proxy: ensures incoming traffic is distributed evenly among the pods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7A287FA-D89C-57EB-5A01-4CCCFA5A8E56}"/>
              </a:ext>
            </a:extLst>
          </p:cNvPr>
          <p:cNvSpPr txBox="1">
            <a:spLocks/>
          </p:cNvSpPr>
          <p:nvPr/>
        </p:nvSpPr>
        <p:spPr>
          <a:xfrm>
            <a:off x="2957427" y="3676832"/>
            <a:ext cx="6005598" cy="1227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3464" indent="-283464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566928" indent="-283464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59536" indent="-283464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52144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0CB518A-EB5C-E0B6-2613-F5D1271A9F29}"/>
              </a:ext>
            </a:extLst>
          </p:cNvPr>
          <p:cNvSpPr txBox="1">
            <a:spLocks/>
          </p:cNvSpPr>
          <p:nvPr/>
        </p:nvSpPr>
        <p:spPr>
          <a:xfrm>
            <a:off x="4137877" y="5578390"/>
            <a:ext cx="5366535" cy="8831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3464" indent="-283464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566928" indent="-283464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59536" indent="-283464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52144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Desired state model: </a:t>
            </a:r>
          </a:p>
          <a:p>
            <a:r>
              <a:rPr lang="en-US" dirty="0"/>
              <a:t>Continuously reconciles actual vs desired state</a:t>
            </a:r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262" y="80389"/>
            <a:ext cx="10515601" cy="566219"/>
          </a:xfrm>
        </p:spPr>
        <p:txBody>
          <a:bodyPr anchor="b">
            <a:normAutofit/>
          </a:bodyPr>
          <a:lstStyle/>
          <a:p>
            <a:r>
              <a:rPr lang="en-US" dirty="0"/>
              <a:t>Kubernetes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58D619-24E4-C510-FD6F-0560FE67B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81" y="728838"/>
            <a:ext cx="10706238" cy="57915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BE5BC2-2D00-3B37-3960-C5595CAEA9ED}"/>
              </a:ext>
            </a:extLst>
          </p:cNvPr>
          <p:cNvSpPr txBox="1"/>
          <p:nvPr/>
        </p:nvSpPr>
        <p:spPr>
          <a:xfrm>
            <a:off x="4721136" y="6531390"/>
            <a:ext cx="20858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Figure 4: Kubernetes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9700-0BB9-7C06-2667-FAB4B036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6CE4-3BDE-5A4A-9D43-3FD119488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Core </a:t>
            </a:r>
            <a:r>
              <a:rPr lang="en-US" dirty="0" err="1"/>
              <a:t>kubernetes</a:t>
            </a:r>
            <a:r>
              <a:rPr lang="en-US" dirty="0"/>
              <a:t> concepts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B602E54-384D-F3F6-CEB4-73FD1437C10A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>
          <a:blip r:embed="rId3"/>
          <a:stretch>
            <a:fillRect/>
          </a:stretch>
        </p:blipFill>
        <p:spPr>
          <a:xfrm>
            <a:off x="7267700" y="2172600"/>
            <a:ext cx="4426007" cy="387352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8EA75-9AB3-94B9-283E-AE2992C6A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BA75364-9823-FF01-110C-FFEE292427A9}"/>
              </a:ext>
            </a:extLst>
          </p:cNvPr>
          <p:cNvGraphicFramePr>
            <a:graphicFrameLocks noGrp="1"/>
          </p:cNvGraphicFramePr>
          <p:nvPr>
            <p:ph sz="quarter" idx="36"/>
            <p:extLst>
              <p:ext uri="{D42A27DB-BD31-4B8C-83A1-F6EECF244321}">
                <p14:modId xmlns:p14="http://schemas.microsoft.com/office/powerpoint/2010/main" val="278325011"/>
              </p:ext>
            </p:extLst>
          </p:nvPr>
        </p:nvGraphicFramePr>
        <p:xfrm>
          <a:off x="741680" y="2472140"/>
          <a:ext cx="6315069" cy="3723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7F36566-D8CD-C90A-8EA2-AB01645EAB1F}"/>
              </a:ext>
            </a:extLst>
          </p:cNvPr>
          <p:cNvSpPr txBox="1"/>
          <p:nvPr/>
        </p:nvSpPr>
        <p:spPr>
          <a:xfrm>
            <a:off x="8542785" y="6046123"/>
            <a:ext cx="19223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Figure 5: Kubernetes flowchart</a:t>
            </a:r>
          </a:p>
        </p:txBody>
      </p:sp>
    </p:spTree>
    <p:extLst>
      <p:ext uri="{BB962C8B-B14F-4D97-AF65-F5344CB8AC3E}">
        <p14:creationId xmlns:p14="http://schemas.microsoft.com/office/powerpoint/2010/main" val="2862780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CFE4B-226A-8CF5-6E29-0CFFF40F5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desired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A0329-F6AF-D0E8-1BDB-9CB022B354E9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4707937" cy="372375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Reconciliation loop: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defines YAML manifest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Server stores state in </a:t>
            </a:r>
            <a:r>
              <a:rPr lang="en-US" dirty="0" err="1"/>
              <a:t>etcd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Controllers detect 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Scheduler assigns pods, </a:t>
            </a:r>
            <a:r>
              <a:rPr lang="en-US" dirty="0" err="1"/>
              <a:t>kubelet</a:t>
            </a:r>
            <a:r>
              <a:rPr lang="en-US" dirty="0"/>
              <a:t> monitors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 repeats until desired state matches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23857-242E-5A6F-218D-6360614BFFD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5847768" y="3437089"/>
            <a:ext cx="5537194" cy="3723753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</a:rPr>
              <a:t>TO ADD DIAGRAM!!!!!!!!!!!!!!!!!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BE035-BFBE-4130-7E3A-34E8A401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760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{74FD534C-0DC8-45C4-8B22-60FC4D740916}TFe8699e8e-689b-4d7e-abcf-e888fd749829db3118dc_win32-d573b439b56f</Template>
  <TotalTime>177</TotalTime>
  <Words>588</Words>
  <Application>Microsoft Office PowerPoint</Application>
  <PresentationFormat>Widescreen</PresentationFormat>
  <Paragraphs>127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Nova</vt:lpstr>
      <vt:lpstr>Biome</vt:lpstr>
      <vt:lpstr>Calibri</vt:lpstr>
      <vt:lpstr>Custom</vt:lpstr>
      <vt:lpstr>Kubernetes essentials</vt:lpstr>
      <vt:lpstr>Agenda</vt:lpstr>
      <vt:lpstr>Why Kubernetes?</vt:lpstr>
      <vt:lpstr>Origins of kubernetes </vt:lpstr>
      <vt:lpstr>Challenges Kubernetes solves</vt:lpstr>
      <vt:lpstr>Why is it still relevant?</vt:lpstr>
      <vt:lpstr>Alternative tools</vt:lpstr>
      <vt:lpstr>Why Kubernetes stands out?</vt:lpstr>
      <vt:lpstr>Choosing kubernetes</vt:lpstr>
      <vt:lpstr>How Kubernetes work?</vt:lpstr>
      <vt:lpstr>Kubernetes architecture</vt:lpstr>
      <vt:lpstr>Core kubernetes concepts</vt:lpstr>
      <vt:lpstr>Maintaining desired state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Danciu,Robert R.I.</dc:creator>
  <cp:lastModifiedBy>Danciu,Robert R.I.</cp:lastModifiedBy>
  <cp:revision>1</cp:revision>
  <dcterms:created xsi:type="dcterms:W3CDTF">2025-11-09T21:22:38Z</dcterms:created>
  <dcterms:modified xsi:type="dcterms:W3CDTF">2025-11-10T00:20:30Z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